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2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371600" cy="455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ASSEMBLEA LEGISLATIVA DELLA REGIONE EMILIA-ROMAGNA  ·  14 LUGLIO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2F5F8"/>
                </a:solidFill>
                <a:latin typeface="Arial"/>
              </a:rPr>
              <a:t>Orientare il futuro:</a:t>
            </a:r>
          </a:p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2F5F8"/>
                </a:solidFill>
                <a:latin typeface="Arial"/>
              </a:rPr>
              <a:t>ridurre i divari è una possibilità</a:t>
            </a:r>
          </a:p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2F5F8"/>
                </a:solidFill>
                <a:latin typeface="Arial"/>
              </a:rPr>
              <a:t>che prende forma attraverso le scelte di oggi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532120"/>
            <a:ext cx="502920" cy="41148"/>
          </a:xfrm>
          <a:prstGeom prst="rect">
            <a:avLst/>
          </a:prstGeom>
          <a:solidFill>
            <a:srgbClr val="2FE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9B2C0"/>
                </a:solidFill>
                <a:latin typeface="Arial"/>
              </a:rPr>
              <a:t>Martino Bellincampi  —  IZILab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PERCHÉ IL FUTURO NON SI PUÒ IMPROVVISARE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2F5F8"/>
                </a:solidFill>
                <a:latin typeface="Arial"/>
              </a:rPr>
              <a:t>Il futuro non si può improvvisare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291840" cy="2468880"/>
          </a:xfrm>
          <a:prstGeom prst="roundRect">
            <a:avLst>
              <a:gd name="adj" fmla="val 8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679192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FE3C4"/>
                </a:solidFill>
                <a:latin typeface="Arial"/>
              </a:rPr>
              <a:t>&gt;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A9B2C0"/>
                </a:solidFill>
                <a:latin typeface="Arial"/>
              </a:rPr>
              <a:t>delle aziende, negli Stati Uniti e nell'Unione Europea,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A9B2C0"/>
                </a:solidFill>
                <a:latin typeface="Arial"/>
              </a:rPr>
              <a:t>chiude o fallisce entro 10 anni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514600"/>
            <a:ext cx="3291840" cy="2468880"/>
          </a:xfrm>
          <a:prstGeom prst="roundRect">
            <a:avLst>
              <a:gd name="adj" fmla="val 8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2679192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FE3C4"/>
                </a:solidFill>
                <a:latin typeface="Arial"/>
              </a:rPr>
              <a:t>&gt;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47472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A9B2C0"/>
                </a:solidFill>
                <a:latin typeface="Arial"/>
              </a:rPr>
              <a:t>delle imprese sociali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A9B2C0"/>
                </a:solidFill>
                <a:latin typeface="Arial"/>
              </a:rPr>
              <a:t>chiude entro 3 anni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514600"/>
            <a:ext cx="3291840" cy="2468880"/>
          </a:xfrm>
          <a:prstGeom prst="roundRect">
            <a:avLst>
              <a:gd name="adj" fmla="val 8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2679192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FE3C4"/>
                </a:solidFill>
                <a:latin typeface="Arial"/>
              </a:rPr>
              <a:t>&gt;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474720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A9B2C0"/>
                </a:solidFill>
                <a:latin typeface="Arial"/>
              </a:rPr>
              <a:t>dei nuovi prodotti o servizi lanciati sul mercato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A9B2C0"/>
                </a:solidFill>
                <a:latin typeface="Arial"/>
              </a:rPr>
              <a:t>non suscita un interesse significativo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55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688"/>
                </a:solidFill>
                <a:latin typeface="Arial"/>
              </a:rPr>
              <a:t>Fonte: Simeone et al.,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252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UN ESEMPIO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F5F8"/>
                </a:solidFill>
                <a:latin typeface="Arial"/>
              </a:rPr>
              <a:t>Investire oggi contro un rischio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F5F8"/>
                </a:solidFill>
                <a:latin typeface="Arial"/>
              </a:rPr>
              <a:t>che arriva tra decenni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A9B2C0"/>
                </a:solidFill>
                <a:latin typeface="Arial"/>
              </a:rPr>
              <a:t>Il Programma Delta del governo olandese destina 1,4 miliardi di euro, fino al 2034, a opere e manutenzione per mantenere il Paese sicuro, vivibile e prospero.</a:t>
            </a:r>
          </a:p>
          <a:p>
            <a:pPr algn="l">
              <a:lnSpc>
                <a:spcPct val="130000"/>
              </a:lnSpc>
            </a:pPr>
            <a:endParaRPr sz="1700" b="0" i="0">
              <a:solidFill>
                <a:srgbClr val="A9B2C0"/>
              </a:solidFill>
              <a:latin typeface="Arial"/>
            </a:endParaRP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A9B2C0"/>
                </a:solidFill>
                <a:latin typeface="Arial"/>
              </a:rPr>
              <a:t>Il livello del mare nei Paesi Bassi potrebbe superare quello attuale, tra 50 e 100 anni, di una misura stimata fra 1 e 5 metri.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2651760"/>
            <a:ext cx="54864" cy="2651760"/>
          </a:xfrm>
          <a:prstGeom prst="rect">
            <a:avLst/>
          </a:prstGeom>
          <a:solidFill>
            <a:srgbClr val="2FE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2880360"/>
            <a:ext cx="37490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2FE3C4"/>
                </a:solidFill>
                <a:latin typeface="Arial"/>
              </a:rPr>
              <a:t>Non prevedere il futuro.</a:t>
            </a:r>
          </a:p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2FE3C4"/>
                </a:solidFill>
                <a:latin typeface="Arial"/>
              </a:rPr>
              <a:t>Prepararsi ad affrontarlo.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688"/>
                </a:solidFill>
                <a:latin typeface="Arial"/>
              </a:rPr>
              <a:t>Fonte: Programma Delta, Governo Olandese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LA NOSTRA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F5F8"/>
                </a:solidFill>
                <a:latin typeface="Arial"/>
              </a:rPr>
              <a:t>Un solo tipo di dato non basta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A9B2C0"/>
                </a:solidFill>
                <a:latin typeface="Arial"/>
              </a:rPr>
              <a:t>I metodi di foresight tradizionali rischiano di restare astratti, senza indicazioni chiare per l'azione. La nostra risposta: integrare quattro tipologie di dato.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2FE3C4"/>
                </a:solidFill>
                <a:latin typeface="Arial"/>
              </a:rPr>
              <a:t>▸  </a:t>
            </a:r>
            <a:r>
              <a:rPr sz="1450" b="1">
                <a:solidFill>
                  <a:srgbClr val="F2F5F8"/>
                </a:solidFill>
                <a:latin typeface="Arial"/>
              </a:rPr>
              <a:t>Thick Data — </a:t>
            </a:r>
            <a:r>
              <a:rPr sz="1450">
                <a:solidFill>
                  <a:srgbClr val="A9B2C0"/>
                </a:solidFill>
                <a:latin typeface="Arial"/>
              </a:rPr>
              <a:t>storie, interviste, motivazioni, comportamenti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2FE3C4"/>
                </a:solidFill>
                <a:latin typeface="Arial"/>
              </a:rPr>
              <a:t>▸  </a:t>
            </a:r>
            <a:r>
              <a:rPr sz="1450" b="1">
                <a:solidFill>
                  <a:srgbClr val="F2F5F8"/>
                </a:solidFill>
                <a:latin typeface="Arial"/>
              </a:rPr>
              <a:t>Big Data — </a:t>
            </a:r>
            <a:r>
              <a:rPr sz="1450">
                <a:solidFill>
                  <a:srgbClr val="A9B2C0"/>
                </a:solidFill>
                <a:latin typeface="Arial"/>
              </a:rPr>
              <a:t>dati digitali su larga scala, sensori, tracce online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2FE3C4"/>
                </a:solidFill>
                <a:latin typeface="Arial"/>
              </a:rPr>
              <a:t>▸  </a:t>
            </a:r>
            <a:r>
              <a:rPr sz="1450" b="1">
                <a:solidFill>
                  <a:srgbClr val="F2F5F8"/>
                </a:solidFill>
                <a:latin typeface="Arial"/>
              </a:rPr>
              <a:t>Forward-Looking Data — </a:t>
            </a:r>
            <a:r>
              <a:rPr sz="1450">
                <a:solidFill>
                  <a:srgbClr val="A9B2C0"/>
                </a:solidFill>
                <a:latin typeface="Arial"/>
              </a:rPr>
              <a:t>trend, scenari, backcasting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2FE3C4"/>
                </a:solidFill>
                <a:latin typeface="Arial"/>
              </a:rPr>
              <a:t>▸  </a:t>
            </a:r>
            <a:r>
              <a:rPr sz="1450" b="1">
                <a:solidFill>
                  <a:srgbClr val="F2F5F8"/>
                </a:solidFill>
                <a:latin typeface="Arial"/>
              </a:rPr>
              <a:t>Participatory Data — </a:t>
            </a:r>
            <a:r>
              <a:rPr sz="1450">
                <a:solidFill>
                  <a:srgbClr val="A9B2C0"/>
                </a:solidFill>
                <a:latin typeface="Arial"/>
              </a:rPr>
              <a:t>workshop, co-progettazione, hackathon</a:t>
            </a:r>
          </a:p>
        </p:txBody>
      </p:sp>
      <p:pic>
        <p:nvPicPr>
          <p:cNvPr id="8" name="Picture 7" descr="radar_4da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700197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355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688"/>
                </a:solidFill>
                <a:latin typeface="Arial"/>
              </a:rPr>
              <a:t>Bellincampi et al., Futures Thinking — Cap. 1 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LO ABBIAMO GIÀ FATTO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2F5F8"/>
                </a:solidFill>
                <a:latin typeface="Arial"/>
              </a:rPr>
              <a:t>Un piccolo comune dell'Appennino,</a:t>
            </a:r>
          </a:p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2F5F8"/>
                </a:solidFill>
                <a:latin typeface="Arial"/>
              </a:rPr>
              <a:t>una visione a 30 anni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A9B2C0"/>
                </a:solidFill>
                <a:latin typeface="Arial"/>
              </a:rPr>
              <a:t>Una nuova sindaca, eletta con un patto chiaro: non gestire l'ordinario, ma costruire una visione di lungo periodo per la propria comunità di montagna.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FE3C4"/>
                </a:solidFill>
                <a:latin typeface="Arial"/>
              </a:rPr>
              <a:t>▸  </a:t>
            </a:r>
            <a:r>
              <a:rPr sz="1400">
                <a:solidFill>
                  <a:srgbClr val="A9B2C0"/>
                </a:solidFill>
                <a:latin typeface="Arial"/>
              </a:rPr>
              <a:t>Horizon scanning e framework PESTEL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FE3C4"/>
                </a:solidFill>
                <a:latin typeface="Arial"/>
              </a:rPr>
              <a:t>▸  </a:t>
            </a:r>
            <a:r>
              <a:rPr sz="1400">
                <a:solidFill>
                  <a:srgbClr val="A9B2C0"/>
                </a:solidFill>
                <a:latin typeface="Arial"/>
              </a:rPr>
              <a:t>Metodo Delphi e assemblee pubbliche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FE3C4"/>
                </a:solidFill>
                <a:latin typeface="Arial"/>
              </a:rPr>
              <a:t>▸  </a:t>
            </a:r>
            <a:r>
              <a:rPr sz="1400">
                <a:solidFill>
                  <a:srgbClr val="A9B2C0"/>
                </a:solidFill>
                <a:latin typeface="Arial"/>
              </a:rPr>
              <a:t>Futures workshop con cittadini ed esperti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6126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2FE3C4"/>
                </a:solidFill>
                <a:latin typeface="Arial"/>
              </a:rPr>
              <a:t>Esito: politiche su lavoro remoto in montagna, coworking ad alta connettività, turismo di rigenerazione. Prima esperienza italiana di questo tipo, con risonanza nazionale.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2331720"/>
            <a:ext cx="4343400" cy="822960"/>
          </a:xfrm>
          <a:prstGeom prst="roundRect">
            <a:avLst>
              <a:gd name="adj" fmla="val 8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245059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Thick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734056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2C0"/>
                </a:solidFill>
                <a:latin typeface="Arial"/>
              </a:rPr>
              <a:t>Sondaggi ai cittadini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3264408"/>
            <a:ext cx="4343400" cy="822960"/>
          </a:xfrm>
          <a:prstGeom prst="roundRect">
            <a:avLst>
              <a:gd name="adj" fmla="val 8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338328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Big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666744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2C0"/>
                </a:solidFill>
                <a:latin typeface="Arial"/>
              </a:rPr>
              <a:t>Social media su vissuto turisti e residenti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4197096"/>
            <a:ext cx="4343400" cy="822960"/>
          </a:xfrm>
          <a:prstGeom prst="roundRect">
            <a:avLst>
              <a:gd name="adj" fmla="val 8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4315968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Forward-Looking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599432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2C0"/>
                </a:solidFill>
                <a:latin typeface="Arial"/>
              </a:rPr>
              <a:t>Insight degli esperti di foresight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5129784"/>
            <a:ext cx="4343400" cy="822960"/>
          </a:xfrm>
          <a:prstGeom prst="roundRect">
            <a:avLst>
              <a:gd name="adj" fmla="val 8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524865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Participatory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532120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2C0"/>
                </a:solidFill>
                <a:latin typeface="Arial"/>
              </a:rPr>
              <a:t>Workshop per scenari e policy condivise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688"/>
                </a:solidFill>
                <a:latin typeface="Arial"/>
              </a:rPr>
              <a:t>Bellincampi et al., Futures Thinking — Cap. 7.2 (Tabella 7.2)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DA UN COMUNE A CENTINAIA DI TERRITORI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F5F8"/>
                </a:solidFill>
                <a:latin typeface="Arial"/>
              </a:rPr>
              <a:t>Chorema non è una dashboard,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F5F8"/>
                </a:solidFill>
                <a:latin typeface="Arial"/>
              </a:rPr>
              <a:t>è un research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8686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A9B2C0"/>
                </a:solidFill>
                <a:latin typeface="Arial"/>
              </a:rPr>
              <a:t>Si distingue da GIS tradizionali (Esri, QGIS), location intelligence (CARTO) e consulenza (Deloitte, McKinsey) combinando foresight di lungo periodo e intelligenza agentica su indici territoriali validati scientificamente.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9052560" cy="1051560"/>
          </a:xfrm>
          <a:prstGeom prst="roundRect">
            <a:avLst>
              <a:gd name="adj" fmla="val 10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E3C4"/>
                </a:solidFill>
                <a:latin typeface="Arial"/>
              </a:rPr>
              <a:t>Gli stessi quattro tipi di dato del metodo, ora integrati e aggiornati in continuo.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COME FUNZIONA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F5F8"/>
                </a:solidFill>
                <a:latin typeface="Arial"/>
              </a:rPr>
              <a:t>Indici validati + intelligenza agentica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3429000" cy="73152"/>
          </a:xfrm>
          <a:prstGeom prst="rect">
            <a:avLst/>
          </a:prstGeom>
          <a:solidFill>
            <a:srgbClr val="2FE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2F5F8"/>
                </a:solidFill>
                <a:latin typeface="Arial"/>
              </a:rPr>
              <a:t>Data 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A9B2C0"/>
                </a:solidFill>
                <a:latin typeface="Arial"/>
              </a:rPr>
              <a:t>80.000+ indicatori geospaziali e 500+ report, da fonti istituzionali e scientifiche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146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514600"/>
            <a:ext cx="3429000" cy="73152"/>
          </a:xfrm>
          <a:prstGeom prst="rect">
            <a:avLst/>
          </a:prstGeom>
          <a:solidFill>
            <a:srgbClr val="2FE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88036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2F5F8"/>
                </a:solidFill>
                <a:latin typeface="Arial"/>
              </a:rPr>
              <a:t>Indici validati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9476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A9B2C0"/>
                </a:solidFill>
                <a:latin typeface="Arial"/>
              </a:rPr>
              <a:t>Sviluppati con Politecnico di Milano, Aalborg University, LUM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1460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2514600"/>
            <a:ext cx="3429000" cy="73152"/>
          </a:xfrm>
          <a:prstGeom prst="rect">
            <a:avLst/>
          </a:prstGeom>
          <a:solidFill>
            <a:srgbClr val="2FE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88036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2F5F8"/>
                </a:solidFill>
                <a:latin typeface="Arial"/>
              </a:rPr>
              <a:t>Architettura multi-agente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9476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A9B2C0"/>
                </a:solidFill>
                <a:latin typeface="Arial"/>
              </a:rPr>
              <a:t>Coordinatore, agenti esperti di dominio, agente critico anti-hallucination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PERCHÉ NON BASTA UN CHATBOT GENERICO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F5F8"/>
                </a:solidFill>
                <a:latin typeface="Arial"/>
              </a:rPr>
              <a:t>Stessa domanda, risposte diverse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A9B2C0"/>
                </a:solidFill>
                <a:latin typeface="Arial"/>
              </a:rPr>
              <a:t>“In quali provincie la domanda di competenze crescerà di più, e quali corridoi migratori saranno più praticabili nei prossimi anni?”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688"/>
                </a:solidFill>
                <a:latin typeface="Arial"/>
              </a:rPr>
              <a:t>GENERALISTI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B2C0"/>
                </a:solidFill>
                <a:latin typeface="Arial"/>
              </a:rPr>
              <a:t>ChatGPT · Gemini · 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2FE3C4"/>
                </a:solidFill>
                <a:latin typeface="Arial"/>
              </a:rPr>
              <a:t>▸  </a:t>
            </a:r>
            <a:r>
              <a:rPr sz="1400">
                <a:solidFill>
                  <a:srgbClr val="A9B2C0"/>
                </a:solidFill>
                <a:latin typeface="Arial"/>
              </a:rPr>
              <a:t>Nessun dato realmente granulare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2FE3C4"/>
                </a:solidFill>
                <a:latin typeface="Arial"/>
              </a:rPr>
              <a:t>▸  </a:t>
            </a:r>
            <a:r>
              <a:rPr sz="1400">
                <a:solidFill>
                  <a:srgbClr val="A9B2C0"/>
                </a:solidFill>
                <a:latin typeface="Arial"/>
              </a:rPr>
              <a:t>Fonti generiche o non verificabili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2FE3C4"/>
                </a:solidFill>
                <a:latin typeface="Arial"/>
              </a:rPr>
              <a:t>▸  </a:t>
            </a:r>
            <a:r>
              <a:rPr sz="1400">
                <a:solidFill>
                  <a:srgbClr val="A9B2C0"/>
                </a:solidFill>
                <a:latin typeface="Arial"/>
              </a:rPr>
              <a:t>Nessuna indicazione operativa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78892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 w="9525">
            <a:solidFill>
              <a:srgbClr val="2FE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3017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FORESKILL (SU CHOREMA)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36499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B2C0"/>
                </a:solidFill>
                <a:latin typeface="Arial"/>
              </a:rPr>
              <a:t>Verticale Chorema per il mercato del lavoro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8862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2FE3C4"/>
                </a:solidFill>
                <a:latin typeface="Arial"/>
              </a:rPr>
              <a:t>▸  </a:t>
            </a:r>
            <a:r>
              <a:rPr sz="1400">
                <a:solidFill>
                  <a:srgbClr val="A9B2C0"/>
                </a:solidFill>
                <a:latin typeface="Arial"/>
              </a:rPr>
              <a:t>Dati granulari per provincia e orizzonte temporale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2FE3C4"/>
                </a:solidFill>
                <a:latin typeface="Arial"/>
              </a:rPr>
              <a:t>▸  </a:t>
            </a:r>
            <a:r>
              <a:rPr sz="1400">
                <a:solidFill>
                  <a:srgbClr val="A9B2C0"/>
                </a:solidFill>
                <a:latin typeface="Arial"/>
              </a:rPr>
              <a:t>18 fonti curate e tracciabili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2FE3C4"/>
                </a:solidFill>
                <a:latin typeface="Arial"/>
              </a:rPr>
              <a:t>▸  </a:t>
            </a:r>
            <a:r>
              <a:rPr sz="1400">
                <a:solidFill>
                  <a:srgbClr val="A9B2C0"/>
                </a:solidFill>
                <a:latin typeface="Arial"/>
              </a:rPr>
              <a:t>Indicazioni pienamente azionabili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CASO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F5F8"/>
                </a:solidFill>
                <a:latin typeface="Arial"/>
              </a:rPr>
              <a:t>Berceto, Appennino Parma 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50" b="1">
                <a:solidFill>
                  <a:srgbClr val="2FE3C4"/>
                </a:solidFill>
                <a:latin typeface="Arial"/>
              </a:rPr>
              <a:t>▸  </a:t>
            </a:r>
            <a:r>
              <a:rPr sz="1450" b="1">
                <a:solidFill>
                  <a:srgbClr val="F2F5F8"/>
                </a:solidFill>
                <a:latin typeface="Arial"/>
              </a:rPr>
              <a:t>Area SNAI </a:t>
            </a:r>
            <a:r>
              <a:rPr sz="1450">
                <a:solidFill>
                  <a:srgbClr val="A9B2C0"/>
                </a:solidFill>
                <a:latin typeface="Arial"/>
              </a:rPr>
              <a:t>Appennino Parma Est, finanziata ciclo 2021-2027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50" b="1">
                <a:solidFill>
                  <a:srgbClr val="2FE3C4"/>
                </a:solidFill>
                <a:latin typeface="Arial"/>
              </a:rPr>
              <a:t>▸  </a:t>
            </a:r>
            <a:r>
              <a:rPr sz="1450" b="1">
                <a:solidFill>
                  <a:srgbClr val="F2F5F8"/>
                </a:solidFill>
                <a:latin typeface="Arial"/>
              </a:rPr>
              <a:t>Classificazione ISTAT </a:t>
            </a:r>
            <a:r>
              <a:rPr sz="1450">
                <a:solidFill>
                  <a:srgbClr val="A9B2C0"/>
                </a:solidFill>
                <a:latin typeface="Arial"/>
              </a:rPr>
              <a:t>E — Periferico, 44,7 minuti dal polo urbano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50" b="1">
                <a:solidFill>
                  <a:srgbClr val="2FE3C4"/>
                </a:solidFill>
                <a:latin typeface="Arial"/>
              </a:rPr>
              <a:t>▸  </a:t>
            </a:r>
            <a:r>
              <a:rPr sz="1450" b="1">
                <a:solidFill>
                  <a:srgbClr val="F2F5F8"/>
                </a:solidFill>
                <a:latin typeface="Arial"/>
              </a:rPr>
              <a:t>Popolazione </a:t>
            </a:r>
            <a:r>
              <a:rPr sz="1450">
                <a:solidFill>
                  <a:srgbClr val="A9B2C0"/>
                </a:solidFill>
                <a:latin typeface="Arial"/>
              </a:rPr>
              <a:t>-25,7% in 30 anni (1991-2021)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50" b="1">
                <a:solidFill>
                  <a:srgbClr val="2FE3C4"/>
                </a:solidFill>
                <a:latin typeface="Arial"/>
              </a:rPr>
              <a:t>▸  </a:t>
            </a:r>
            <a:r>
              <a:rPr sz="1450" b="1">
                <a:solidFill>
                  <a:srgbClr val="F2F5F8"/>
                </a:solidFill>
                <a:latin typeface="Arial"/>
              </a:rPr>
              <a:t>Struttura demografica </a:t>
            </a:r>
            <a:r>
              <a:rPr sz="1450">
                <a:solidFill>
                  <a:srgbClr val="A9B2C0"/>
                </a:solidFill>
                <a:latin typeface="Arial"/>
              </a:rPr>
              <a:t>over 65 oltre 4 volte gli under 15</a:t>
            </a:r>
          </a:p>
        </p:txBody>
      </p:sp>
      <p:pic>
        <p:nvPicPr>
          <p:cNvPr id="7" name="Picture 6" descr="Immagine 2026-07-07 1323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4519"/>
            <a:ext cx="5577840" cy="29888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6811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E3C4"/>
                </a:solidFill>
                <a:latin typeface="Arial"/>
              </a:rPr>
              <a:t>Zero ospedali raggiungibili in 30 minuti. Il dominio più accessibile in assoluto: la ristorazione.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688"/>
                </a:solidFill>
                <a:latin typeface="Arial"/>
              </a:rPr>
              <a:t>Fonte: Chorema — Aree Interne Intelligence, Urban Intelligence (Hex)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SCENARI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F5F8"/>
                </a:solidFill>
                <a:latin typeface="Arial"/>
              </a:rPr>
              <a:t>Due traiettorie, a partire da oggi</a:t>
            </a:r>
          </a:p>
        </p:txBody>
      </p:sp>
      <p:pic>
        <p:nvPicPr>
          <p:cNvPr id="6" name="Picture 5" descr="Immagine 2026-07-07 1322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19"/>
            <a:ext cx="5120640" cy="22154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89320" y="1874519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9320" y="1874519"/>
            <a:ext cx="82296" cy="2148840"/>
          </a:xfrm>
          <a:prstGeom prst="rect">
            <a:avLst/>
          </a:prstGeom>
          <a:solidFill>
            <a:srgbClr val="E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2130551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2F5F8"/>
                </a:solidFill>
                <a:latin typeface="Arial"/>
              </a:rPr>
              <a:t>Inerzia strutturale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43199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A9B2C0"/>
                </a:solidFill>
                <a:latin typeface="Arial"/>
              </a:rPr>
              <a:t>Il trend attuale continua: connettività e telemedicina non arrivano in tempo. La popolazione scende sotto la soglia critica entro il 2030.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25196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4251960"/>
            <a:ext cx="82296" cy="2148840"/>
          </a:xfrm>
          <a:prstGeom prst="rect">
            <a:avLst/>
          </a:prstGeom>
          <a:solidFill>
            <a:srgbClr val="2FE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4507992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2F5F8"/>
                </a:solidFill>
                <a:latin typeface="Arial"/>
              </a:rPr>
              <a:t>Rigenerazione connessa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12064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A9B2C0"/>
                </a:solidFill>
                <a:latin typeface="Arial"/>
              </a:rPr>
              <a:t>Telemedicina, mobilità a chiamata e residenzialità digitale, attivate nel ciclo SNAI in corso, invertono parzialmente la traiettoria di declino.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411480"/>
            <a:ext cx="914400" cy="30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E3C4"/>
                </a:solidFill>
                <a:latin typeface="Arial"/>
              </a:rPr>
              <a:t>RACCOMANDAZIONI STRATEGICHE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2F5F8"/>
                </a:solidFill>
                <a:latin typeface="Arial"/>
              </a:rPr>
              <a:t>Le scelte che possono cambiare la traiettoria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30428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E3C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30083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2F5F8"/>
                </a:solidFill>
                <a:latin typeface="Arial"/>
              </a:rPr>
              <a:t>Telemedicina intercomunale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2044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FE3C4"/>
                </a:solidFill>
                <a:latin typeface="Arial"/>
              </a:rPr>
              <a:t>DESTINATARIO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67328"/>
            <a:ext cx="30083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A9B2C0"/>
                </a:solidFill>
                <a:latin typeface="Arial"/>
              </a:rPr>
              <a:t>AUSL Parma / Unione dei Comuni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251960"/>
            <a:ext cx="3008376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9B2C0"/>
                </a:solidFill>
                <a:latin typeface="Arial"/>
              </a:rPr>
              <a:t>Presidio h24 con teleconsulto e telemonitoraggio per le cronicità, attivo entro il 2026.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1031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2584" y="230428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E3C4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880360"/>
            <a:ext cx="30083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2F5F8"/>
                </a:solidFill>
                <a:latin typeface="Arial"/>
              </a:rPr>
              <a:t>Mobilità a chiamata sovracomunale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52044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FE3C4"/>
                </a:solidFill>
                <a:latin typeface="Arial"/>
              </a:rPr>
              <a:t>DESTINATARIO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767328"/>
            <a:ext cx="30083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A9B2C0"/>
                </a:solidFill>
                <a:latin typeface="Arial"/>
              </a:rPr>
              <a:t>Agenzia TPL Emilia-Romagna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4251960"/>
            <a:ext cx="3008376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9B2C0"/>
                </a:solidFill>
                <a:latin typeface="Arial"/>
              </a:rPr>
              <a:t>Trasporto a chiamata tra i 9 comuni dell'area, operativo entro il 2027.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21031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230428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E3C4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80360"/>
            <a:ext cx="30083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2F5F8"/>
                </a:solidFill>
                <a:latin typeface="Arial"/>
              </a:rPr>
              <a:t>Residenzialità digitale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20440"/>
            <a:ext cx="3008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FE3C4"/>
                </a:solidFill>
                <a:latin typeface="Arial"/>
              </a:rPr>
              <a:t>DESTINATARIO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767328"/>
            <a:ext cx="30083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A9B2C0"/>
                </a:solidFill>
                <a:latin typeface="Arial"/>
              </a:rPr>
              <a:t>Comune di Berceto / GAL Appennino Parmense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4251960"/>
            <a:ext cx="3008376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9B2C0"/>
                </a:solidFill>
                <a:latin typeface="Arial"/>
              </a:rPr>
              <a:t>Incentivi abitativi e coworking per lavoratori remoti, su strutture ricettive esistenti.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zilab_logo_whit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280160" cy="4250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F5F8"/>
                </a:solidFill>
                <a:latin typeface="Arial"/>
              </a:rPr>
              <a:t>Le scelte di oggi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46120"/>
            <a:ext cx="502920" cy="41148"/>
          </a:xfrm>
          <a:prstGeom prst="rect">
            <a:avLst/>
          </a:prstGeom>
          <a:solidFill>
            <a:srgbClr val="2FE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A9B2C0"/>
                </a:solidFill>
                <a:latin typeface="Arial"/>
              </a:rPr>
              <a:t>Il ciclo SNAI 2021-2027 è aperto. Le tecnologie per leggere e anticipare i divari territoriali esistono già.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A9B2C0"/>
                </a:solidFill>
                <a:latin typeface="Arial"/>
              </a:rPr>
              <a:t>Quello che ridurrà davvero le disuguaglianze tra i luoghi non è un nuovo dato: è la scelta di usarlo, ora.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E3C4"/>
                </a:solidFill>
                <a:latin typeface="Arial"/>
              </a:rPr>
              <a:t>Martino Bellincampi  —  IZILab  ·  www.izilab.it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893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Alessandro Alberti</cp:lastModifiedBy>
  <cp:revision>2</cp:revision>
  <dcterms:created xsi:type="dcterms:W3CDTF">2013-01-27T09:14:16Z</dcterms:created>
  <dcterms:modified xsi:type="dcterms:W3CDTF">2026-07-07T13:36:34Z</dcterms:modified>
  <cp:category/>
</cp:coreProperties>
</file>