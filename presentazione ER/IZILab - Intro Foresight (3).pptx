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413" r:id="rId2"/>
    <p:sldId id="414" r:id="rId3"/>
    <p:sldId id="423" r:id="rId4"/>
    <p:sldId id="396" r:id="rId5"/>
    <p:sldId id="264" r:id="rId6"/>
    <p:sldId id="265" r:id="rId7"/>
    <p:sldId id="440" r:id="rId8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0"/>
      <p:bold r:id="rId11"/>
      <p:italic r:id="rId12"/>
      <p:boldItalic r:id="rId13"/>
    </p:embeddedFont>
    <p:embeddedFont>
      <p:font typeface="Proxima Nova Semibold" panose="020005060300000200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a Amendol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38BE"/>
    <a:srgbClr val="7030A0"/>
    <a:srgbClr val="FFF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C8E16A-97A5-4314-A804-03EFFBE2C8C7}">
  <a:tblStyle styleId="{A9C8E16A-97A5-4314-A804-03EFFBE2C8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1"/>
    <p:restoredTop sz="95753"/>
  </p:normalViewPr>
  <p:slideViewPr>
    <p:cSldViewPr snapToGrid="0">
      <p:cViewPr varScale="1">
        <p:scale>
          <a:sx n="162" d="100"/>
          <a:sy n="162" d="100"/>
        </p:scale>
        <p:origin x="8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79789643-DBA3-8814-F123-3066D803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7f8bd8e15_0_46:notes">
            <a:extLst>
              <a:ext uri="{FF2B5EF4-FFF2-40B4-BE49-F238E27FC236}">
                <a16:creationId xmlns:a16="http://schemas.microsoft.com/office/drawing/2014/main" id="{87F71C66-0CCA-2FD7-99ED-350933BA0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7f8bd8e15_0_46:notes">
            <a:extLst>
              <a:ext uri="{FF2B5EF4-FFF2-40B4-BE49-F238E27FC236}">
                <a16:creationId xmlns:a16="http://schemas.microsoft.com/office/drawing/2014/main" id="{C4CC3967-E888-1CEF-0839-7E0635463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pure.au.dk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/portal/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/publications/corporate-foresight-benchmarking-report-2018-how-leading-firms-bu</a:t>
            </a:r>
            <a:endParaRPr lang="en-US" sz="11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5337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620C6532-58A6-4D5F-ED0C-25A282B4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7f8bd8e15_0_46:notes">
            <a:extLst>
              <a:ext uri="{FF2B5EF4-FFF2-40B4-BE49-F238E27FC236}">
                <a16:creationId xmlns:a16="http://schemas.microsoft.com/office/drawing/2014/main" id="{D6DBD3B5-D9FB-ADC5-3306-4F833AA3C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7f8bd8e15_0_46:notes">
            <a:extLst>
              <a:ext uri="{FF2B5EF4-FFF2-40B4-BE49-F238E27FC236}">
                <a16:creationId xmlns:a16="http://schemas.microsoft.com/office/drawing/2014/main" id="{660BCD07-8D4D-4D0A-C88C-CCA9739BE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pure.au.dk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/portal/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/publications/corporate-foresight-benchmarking-report-2018-how-leading-firms-bu</a:t>
            </a:r>
            <a:endParaRPr lang="en-US" sz="11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4776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F4C57772-09C9-7374-5201-3B63C6C4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7f8bd8e15_0_46:notes">
            <a:extLst>
              <a:ext uri="{FF2B5EF4-FFF2-40B4-BE49-F238E27FC236}">
                <a16:creationId xmlns:a16="http://schemas.microsoft.com/office/drawing/2014/main" id="{6730AFCE-7EEC-81E0-A536-EF4FA597B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7f8bd8e15_0_46:notes">
            <a:extLst>
              <a:ext uri="{FF2B5EF4-FFF2-40B4-BE49-F238E27FC236}">
                <a16:creationId xmlns:a16="http://schemas.microsoft.com/office/drawing/2014/main" id="{4B831474-AA89-F0CA-A4F5-4D99D4304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pure.au.dk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/portal/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/publications/corporate-foresight-benchmarking-report-2018-how-leading-firms-bu</a:t>
            </a:r>
            <a:endParaRPr lang="en-US" sz="11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287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7f8bd8e1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7f8bd8e1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94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Berkhout, G., Van der Duin, P., Hartmann, D., &amp; Ortt, R. (2007). </a:t>
            </a:r>
            <a:r>
              <a:rPr lang="en-US" sz="2200" i="1">
                <a:latin typeface="Helvetica Neue"/>
                <a:ea typeface="Helvetica Neue"/>
                <a:cs typeface="Helvetica Neue"/>
                <a:sym typeface="Helvetica Neue"/>
              </a:rPr>
              <a:t>The cyclic nature of innovation: Connecting hard sciences with soft values.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 Elsevier.</a:t>
            </a:r>
            <a:endParaRPr/>
          </a:p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eef258b5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eef258b5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ulletpoint Slide">
  <p:cSld name="Text bulletpoint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5"/>
          <p:cNvSpPr txBox="1">
            <a:spLocks noGrp="1"/>
          </p:cNvSpPr>
          <p:nvPr>
            <p:ph type="body" idx="1"/>
          </p:nvPr>
        </p:nvSpPr>
        <p:spPr>
          <a:xfrm>
            <a:off x="385762" y="4692943"/>
            <a:ext cx="8190902" cy="20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171450" lvl="0" indent="-857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1313"/>
            </a:lvl1pPr>
            <a:lvl2pPr marL="342900" lvl="1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514350" lvl="2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685800" lvl="3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857250" lvl="4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1028700" lvl="5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1200150" lvl="6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1371600" lvl="7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1543050" lvl="8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5"/>
          <p:cNvSpPr txBox="1">
            <a:spLocks noGrp="1"/>
          </p:cNvSpPr>
          <p:nvPr>
            <p:ph type="body" idx="2"/>
          </p:nvPr>
        </p:nvSpPr>
        <p:spPr>
          <a:xfrm>
            <a:off x="411507" y="1393031"/>
            <a:ext cx="7268942" cy="235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171450" lvl="0" indent="-16609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Char char="•"/>
              <a:defRPr sz="1688"/>
            </a:lvl1pPr>
            <a:lvl2pPr marL="342900" lvl="1" indent="-16609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Char char="•"/>
              <a:defRPr sz="1688"/>
            </a:lvl2pPr>
            <a:lvl3pPr marL="514350" lvl="2" indent="-16609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Char char="•"/>
              <a:defRPr sz="1688"/>
            </a:lvl3pPr>
            <a:lvl4pPr marL="685800" lvl="3" indent="-16609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Char char="•"/>
              <a:defRPr sz="1688"/>
            </a:lvl4pPr>
            <a:lvl5pPr marL="857250" lvl="4" indent="-16609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Char char="•"/>
              <a:defRPr sz="1688"/>
            </a:lvl5pPr>
            <a:lvl6pPr marL="1028700" lvl="5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1200150" lvl="6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1371600" lvl="7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1543050" lvl="8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3"/>
          </p:nvPr>
        </p:nvSpPr>
        <p:spPr>
          <a:xfrm>
            <a:off x="385763" y="-6991"/>
            <a:ext cx="8190902" cy="52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171450" lvl="0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  <a:defRPr sz="1688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42900" lvl="1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514350" lvl="2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685800" lvl="3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857250" lvl="4" indent="-117872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1028700" lvl="5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1200150" lvl="6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1371600" lvl="7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1543050" lvl="8" indent="-11787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sldNum" idx="12"/>
          </p:nvPr>
        </p:nvSpPr>
        <p:spPr>
          <a:xfrm>
            <a:off x="4475931" y="4878958"/>
            <a:ext cx="185442" cy="5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Google Shape;25;p35"/>
          <p:cNvSpPr txBox="1"/>
          <p:nvPr/>
        </p:nvSpPr>
        <p:spPr>
          <a:xfrm>
            <a:off x="1480704" y="406977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42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>
          <a:extLst>
            <a:ext uri="{FF2B5EF4-FFF2-40B4-BE49-F238E27FC236}">
              <a16:creationId xmlns:a16="http://schemas.microsoft.com/office/drawing/2014/main" id="{86BD3085-3FAD-EACB-2CD7-0B6E7AA9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6">
            <a:extLst>
              <a:ext uri="{FF2B5EF4-FFF2-40B4-BE49-F238E27FC236}">
                <a16:creationId xmlns:a16="http://schemas.microsoft.com/office/drawing/2014/main" id="{903D9FE0-C733-1369-E387-0F5B757499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C793C9FF-2A47-4B23-7023-95C8C30668F9}"/>
              </a:ext>
            </a:extLst>
          </p:cNvPr>
          <p:cNvSpPr txBox="1"/>
          <p:nvPr/>
        </p:nvSpPr>
        <p:spPr>
          <a:xfrm>
            <a:off x="3053604" y="1684039"/>
            <a:ext cx="5175995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Il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fatturato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annuo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Kodak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raggiunse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il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picco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16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miliardi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dollari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1996,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mentre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gli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utili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toccarono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il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massimo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2,5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miliardi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dollari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1999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 </a:t>
            </a:r>
            <a:r>
              <a:rPr lang="en-US" sz="16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2012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dichiarò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bancarotta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Fu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una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delle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prime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società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a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brevettare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tecnologie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per le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immagini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digitali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ma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decise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di non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svilupparle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per non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cannibalizzare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profitti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legati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ai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prodotti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analogici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.</a:t>
            </a:r>
            <a:endParaRPr sz="16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42FABF17-8ADC-1D41-5EA2-B938666B81AB}"/>
              </a:ext>
            </a:extLst>
          </p:cNvPr>
          <p:cNvSpPr txBox="1"/>
          <p:nvPr/>
        </p:nvSpPr>
        <p:spPr>
          <a:xfrm>
            <a:off x="3053605" y="1262622"/>
            <a:ext cx="3787500" cy="42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>
                <a:solidFill>
                  <a:srgbClr val="9179FA"/>
                </a:solidFill>
                <a:latin typeface="Proxima Nova"/>
                <a:ea typeface="Proxima Nova"/>
                <a:cs typeface="Proxima Nova"/>
                <a:sym typeface="Proxima Nova"/>
              </a:rPr>
              <a:t>Kodak</a:t>
            </a:r>
            <a:endParaRPr sz="1800" dirty="0">
              <a:solidFill>
                <a:srgbClr val="9179F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 descr="A yellow and black camera in a box&#10;&#10;Description automatically generated">
            <a:extLst>
              <a:ext uri="{FF2B5EF4-FFF2-40B4-BE49-F238E27FC236}">
                <a16:creationId xmlns:a16="http://schemas.microsoft.com/office/drawing/2014/main" id="{B9FB0949-2CF1-E985-DD5B-ABFEC9E8A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22" y="2839987"/>
            <a:ext cx="2048784" cy="2061549"/>
          </a:xfrm>
          <a:prstGeom prst="rect">
            <a:avLst/>
          </a:prstGeom>
        </p:spPr>
      </p:pic>
      <p:pic>
        <p:nvPicPr>
          <p:cNvPr id="5" name="Picture 4" descr="A box of film on a white background&#10;&#10;Description automatically generated">
            <a:extLst>
              <a:ext uri="{FF2B5EF4-FFF2-40B4-BE49-F238E27FC236}">
                <a16:creationId xmlns:a16="http://schemas.microsoft.com/office/drawing/2014/main" id="{8F6742F0-B871-E21E-8FAD-BD9EB5BD6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22" y="431775"/>
            <a:ext cx="2048784" cy="21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>
          <a:extLst>
            <a:ext uri="{FF2B5EF4-FFF2-40B4-BE49-F238E27FC236}">
              <a16:creationId xmlns:a16="http://schemas.microsoft.com/office/drawing/2014/main" id="{0759A7E4-0312-8428-6CE0-801A01DB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6">
            <a:extLst>
              <a:ext uri="{FF2B5EF4-FFF2-40B4-BE49-F238E27FC236}">
                <a16:creationId xmlns:a16="http://schemas.microsoft.com/office/drawing/2014/main" id="{214E5AA4-A0A5-4BB6-F9ED-8BC489888E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1DC5559E-AD8B-CE93-3F9D-B30075D97444}"/>
              </a:ext>
            </a:extLst>
          </p:cNvPr>
          <p:cNvSpPr txBox="1"/>
          <p:nvPr/>
        </p:nvSpPr>
        <p:spPr>
          <a:xfrm>
            <a:off x="3684976" y="1684039"/>
            <a:ext cx="5175995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 2003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stava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per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dichiarare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bancarotta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Decise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istituire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un </a:t>
            </a:r>
            <a:r>
              <a:rPr lang="en-US" sz="1600" i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Future Lab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che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coinvolse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bambini,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progettisti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giocattoli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scrittori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fantascienza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Le loro idee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hanno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generato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prodotti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enorme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successo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 Semibold"/>
                <a:cs typeface="Proxima Nova Semibold"/>
                <a:sym typeface="Proxima Nova"/>
              </a:rPr>
              <a:t>.</a:t>
            </a:r>
            <a:endParaRPr sz="16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02210B85-D1B0-BB3E-577F-FD30DD60F897}"/>
              </a:ext>
            </a:extLst>
          </p:cNvPr>
          <p:cNvSpPr txBox="1"/>
          <p:nvPr/>
        </p:nvSpPr>
        <p:spPr>
          <a:xfrm>
            <a:off x="3684977" y="1262622"/>
            <a:ext cx="3787500" cy="42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>
                <a:solidFill>
                  <a:srgbClr val="9179FA"/>
                </a:solidFill>
                <a:latin typeface="Proxima Nova"/>
                <a:ea typeface="Proxima Nova"/>
                <a:cs typeface="Proxima Nova"/>
                <a:sym typeface="Proxima Nova"/>
              </a:rPr>
              <a:t>Lego</a:t>
            </a:r>
            <a:endParaRPr sz="1800" dirty="0">
              <a:solidFill>
                <a:srgbClr val="9179F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 descr="A white robot with black background&#10;&#10;Description automatically generated">
            <a:extLst>
              <a:ext uri="{FF2B5EF4-FFF2-40B4-BE49-F238E27FC236}">
                <a16:creationId xmlns:a16="http://schemas.microsoft.com/office/drawing/2014/main" id="{E77251F7-1318-8EA5-F069-53B23BD82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" y="342141"/>
            <a:ext cx="3775636" cy="434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6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>
          <a:extLst>
            <a:ext uri="{FF2B5EF4-FFF2-40B4-BE49-F238E27FC236}">
              <a16:creationId xmlns:a16="http://schemas.microsoft.com/office/drawing/2014/main" id="{BD0F1112-D0F5-703A-52A1-F9FE858F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6">
            <a:extLst>
              <a:ext uri="{FF2B5EF4-FFF2-40B4-BE49-F238E27FC236}">
                <a16:creationId xmlns:a16="http://schemas.microsoft.com/office/drawing/2014/main" id="{6628CEF8-BA7E-92A2-1E4F-30202E1026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806FA2B6-5C50-1165-EE42-C79F80BF0388}"/>
              </a:ext>
            </a:extLst>
          </p:cNvPr>
          <p:cNvSpPr txBox="1"/>
          <p:nvPr/>
        </p:nvSpPr>
        <p:spPr>
          <a:xfrm>
            <a:off x="3684976" y="1684039"/>
            <a:ext cx="5175995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Mantenere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il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Paese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sicuro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vivibile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prospero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fronte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innalzamento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del mare,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alluvioni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siccità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Circa 1,4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mld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€ per opere,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manutenzione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ricerca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fino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al 2034.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qualche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decade (50-100 anni), il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livello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del mare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Paesi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Bassi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potrebbe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superare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quello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attuale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stima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1 e 5 </a:t>
            </a:r>
            <a:r>
              <a:rPr lang="en-US" sz="16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metri</a:t>
            </a:r>
            <a:r>
              <a:rPr lang="en-US" sz="16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).</a:t>
            </a: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E296A7A7-90DA-7002-829F-4217D3715F6A}"/>
              </a:ext>
            </a:extLst>
          </p:cNvPr>
          <p:cNvSpPr txBox="1"/>
          <p:nvPr/>
        </p:nvSpPr>
        <p:spPr>
          <a:xfrm>
            <a:off x="3684976" y="1262622"/>
            <a:ext cx="4392223" cy="42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>
                <a:solidFill>
                  <a:srgbClr val="9179FA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Programma Delta (Governo Olandese)</a:t>
            </a:r>
            <a:endParaRPr sz="1800" dirty="0">
              <a:solidFill>
                <a:srgbClr val="9179F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 descr="A map of the netherlands&#10;&#10;Description automatically generated">
            <a:extLst>
              <a:ext uri="{FF2B5EF4-FFF2-40B4-BE49-F238E27FC236}">
                <a16:creationId xmlns:a16="http://schemas.microsoft.com/office/drawing/2014/main" id="{418D9C91-0770-DA24-3739-58C2CE2C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64" y="0"/>
            <a:ext cx="28533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8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 txBox="1"/>
          <p:nvPr/>
        </p:nvSpPr>
        <p:spPr>
          <a:xfrm>
            <a:off x="942000" y="1740600"/>
            <a:ext cx="72600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Il </a:t>
            </a:r>
            <a:r>
              <a:rPr lang="en-US" sz="2400" b="1" dirty="0">
                <a:solidFill>
                  <a:srgbClr val="7030A0"/>
                </a:solidFill>
                <a:latin typeface="Proxima Nova"/>
                <a:ea typeface="Proxima Nova"/>
                <a:cs typeface="Proxima Nova"/>
                <a:sym typeface="Proxima Nova"/>
              </a:rPr>
              <a:t>90%</a:t>
            </a:r>
            <a:r>
              <a:rPr lang="en-US" sz="2400" dirty="0">
                <a:solidFill>
                  <a:srgbClr val="7030A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delle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più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grandi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aziende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europee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statunitensi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utilizza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regolarmente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il </a:t>
            </a:r>
            <a:r>
              <a:rPr lang="en-US" sz="2400" b="1" dirty="0">
                <a:solidFill>
                  <a:srgbClr val="7030A0"/>
                </a:solidFill>
                <a:latin typeface="Proxima Nova"/>
                <a:ea typeface="Proxima Nova"/>
                <a:cs typeface="Proxima Nova"/>
                <a:sym typeface="Proxima Nova"/>
              </a:rPr>
              <a:t>futures thinking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Circa un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terzo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queste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aziende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ha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una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funzione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aziendale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specializzata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futures thinking.</a:t>
            </a:r>
            <a:endParaRPr sz="24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5111775" y="4728150"/>
            <a:ext cx="37875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 dirty="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Fonte: </a:t>
            </a:r>
            <a:r>
              <a:rPr lang="en-US" sz="600" dirty="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Nuremberg Institute of Market Decisions </a:t>
            </a:r>
            <a:endParaRPr sz="600" dirty="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5277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8937" y="2098800"/>
            <a:ext cx="2791294" cy="30513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35;p19">
            <a:extLst>
              <a:ext uri="{FF2B5EF4-FFF2-40B4-BE49-F238E27FC236}">
                <a16:creationId xmlns:a16="http://schemas.microsoft.com/office/drawing/2014/main" id="{293B8026-4A22-C70F-3E4D-AC94DB2A26FC}"/>
              </a:ext>
            </a:extLst>
          </p:cNvPr>
          <p:cNvSpPr txBox="1"/>
          <p:nvPr/>
        </p:nvSpPr>
        <p:spPr>
          <a:xfrm>
            <a:off x="942000" y="1056857"/>
            <a:ext cx="7260000" cy="283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”Il </a:t>
            </a:r>
            <a:r>
              <a:rPr lang="en-GB" sz="1800" dirty="0">
                <a:solidFill>
                  <a:srgbClr val="7030A0"/>
                </a:solidFill>
                <a:latin typeface="Proxima Nova"/>
                <a:ea typeface="Proxima Nova"/>
                <a:cs typeface="Proxima Nova"/>
                <a:sym typeface="Proxima Nova"/>
              </a:rPr>
              <a:t>foresight / futures thinking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è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scienza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l'arte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descrivere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spiegare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esplorare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prevedere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e/o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interpretare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gli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sviluppi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futuri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nonché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valutarne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le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conseguenze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per le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decisioni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altre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azioni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nel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</a:t>
            </a:r>
            <a:r>
              <a:rPr lang="en-GB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 </a:t>
            </a:r>
            <a:r>
              <a:rPr lang="en-GB" sz="105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Berkhout</a:t>
            </a:r>
            <a:r>
              <a:rPr lang="en-GB" sz="105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et al., 2007, p. 74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942000" y="1925250"/>
            <a:ext cx="726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Prevedere il futuro è scientificamente impossibile. </a:t>
            </a:r>
            <a:r>
              <a:rPr lang="it" sz="2400" dirty="0">
                <a:solidFill>
                  <a:srgbClr val="9179F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Guardare al futuro </a:t>
            </a:r>
            <a:r>
              <a:rPr lang="it" sz="24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 modo razionale e scientifico non lo è.</a:t>
            </a:r>
            <a:endParaRPr sz="2400" dirty="0">
              <a:solidFill>
                <a:srgbClr val="9179FA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5111775" y="4728150"/>
            <a:ext cx="37875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Fonte: Harvard Business Review Italia</a:t>
            </a:r>
            <a:endParaRPr sz="6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FuturesCone-CDB">
            <a:extLst>
              <a:ext uri="{FF2B5EF4-FFF2-40B4-BE49-F238E27FC236}">
                <a16:creationId xmlns:a16="http://schemas.microsoft.com/office/drawing/2014/main" id="{837C2BAF-3146-8FE1-167E-CCD68FAC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06" y="226340"/>
            <a:ext cx="6912787" cy="469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9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17119</TotalTime>
  <Words>361</Words>
  <Application>Microsoft Macintosh PowerPoint</Application>
  <PresentationFormat>On-screen Show (16:9)</PresentationFormat>
  <Paragraphs>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Helvetica Neue</vt:lpstr>
      <vt:lpstr>Proxima Nova Semibold</vt:lpstr>
      <vt:lpstr>Helvetica Neue Light</vt:lpstr>
      <vt:lpstr>Proxima Nova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Martino Bellincampi</cp:lastModifiedBy>
  <cp:revision>70</cp:revision>
  <cp:lastPrinted>2026-06-23T17:18:13Z</cp:lastPrinted>
  <dcterms:modified xsi:type="dcterms:W3CDTF">2026-07-07T12:57:57Z</dcterms:modified>
</cp:coreProperties>
</file>