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4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Inter Light" panose="02000503000000020004" pitchFamily="2" charset="0"/>
      <p:regular r:id="rId18"/>
      <p: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jEdjLwoEugUQRaVc69H4/Aox7bR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rtino Bellincampi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33" Type="http://customschemas.google.com/relationships/presentationmetadata" Target="meta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 algn="l">
              <a:defRPr sz="1300" b="0" i="0" u="none" strike="noStrike">
                <a:solidFill>
                  <a:srgbClr val="F0F4F8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F0F4F8"/>
                </a:solidFill>
                <a:latin typeface="Calibri"/>
              </a:rPr>
              <a:t>Valore della produzione  (€ migliaia)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Valore Produzione (€k)</c:v>
                </c:pt>
              </c:strCache>
            </c:strRef>
          </c:tx>
          <c:spPr>
            <a:solidFill>
              <a:srgbClr val="3EE8D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0F4F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178</c:v>
                </c:pt>
                <c:pt idx="1">
                  <c:v>621</c:v>
                </c:pt>
                <c:pt idx="2">
                  <c:v>850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55-1E4A-AF54-5C8BF26CFD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A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4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AA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51C37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51C37"/>
    </a:solidFill>
    <a:ln w="12700" cap="flat">
      <a:solidFill>
        <a:srgbClr val="2A3454"/>
      </a:solidFill>
    </a:ln>
    <a:effectLst/>
  </c:spPr>
  <c:externalData r:id="rId1">
    <c:autoUpdate val="0"/>
  </c:externalData>
</c:chartSpac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24T08:49:25.491" idx="1">
    <p:pos x="6000" y="0"/>
    <p:text>ristrutturare la slide per dare maggiore spazio alle esperienze di ognuno.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p0sqKE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4-24T08:52:40.442" idx="2">
    <p:pos x="432" y="3600"/>
    <p:text>al posto di operating break-even Q4 2027 mettiamo un forecast di annual recurring revenue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3p0sqKI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</a:rPr>
              <a:t>TAM · €5–8 miliardi (EU)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Cosa rappresenta</a:t>
            </a:r>
            <a:r>
              <a:rPr lang="en-US" sz="1100">
                <a:solidFill>
                  <a:schemeClr val="dk1"/>
                </a:solidFill>
              </a:rPr>
              <a:t> — Il mercato totale europeo per le due categorie in cui Chorema compete: </a:t>
            </a:r>
            <a:r>
              <a:rPr lang="en-US" sz="1100" i="1">
                <a:solidFill>
                  <a:schemeClr val="dk1"/>
                </a:solidFill>
              </a:rPr>
              <a:t>geospatial analytics</a:t>
            </a:r>
            <a:r>
              <a:rPr lang="en-US" sz="1100">
                <a:solidFill>
                  <a:schemeClr val="dk1"/>
                </a:solidFill>
              </a:rPr>
              <a:t> + </a:t>
            </a:r>
            <a:r>
              <a:rPr lang="en-US" sz="1100" i="1">
                <a:solidFill>
                  <a:schemeClr val="dk1"/>
                </a:solidFill>
              </a:rPr>
              <a:t>foresight/futures intelligence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Come è stato costruito</a:t>
            </a:r>
            <a:r>
              <a:rPr lang="en-US" sz="1100">
                <a:solidFill>
                  <a:schemeClr val="dk1"/>
                </a:solidFill>
              </a:rPr>
              <a:t> — È la </a:t>
            </a:r>
            <a:r>
              <a:rPr lang="en-US" sz="1100" b="1">
                <a:solidFill>
                  <a:schemeClr val="dk1"/>
                </a:solidFill>
              </a:rPr>
              <a:t>mediana di quattro fonti top-down</a:t>
            </a:r>
            <a:r>
              <a:rPr lang="en-US" sz="1100">
                <a:solidFill>
                  <a:schemeClr val="dk1"/>
                </a:solidFill>
              </a:rPr>
              <a:t> (report di analisti di settore): — MarketsandMarkets Geospatial Analytics 2025 — Grand View Foresight 2025 — IDC Spatial Analytics Guide — Gartner Location Intelligence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Si prende il dato globale di ciascun report, si isola la quota Europa (tipicamente ~25–30% del globale), e si fa la mediana delle quattro stime per evitare che un outlier singolo distorca il numero. Il range €5–8B è la forchetta p25–p75 di queste fonti.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CAGR 11–13%</a:t>
            </a:r>
            <a:r>
              <a:rPr lang="en-US" sz="1100">
                <a:solidFill>
                  <a:schemeClr val="dk1"/>
                </a:solidFill>
              </a:rPr>
              <a:t> — Tasso di crescita annuo composto, sempre dalla mediana delle fonti. È un dato importante perché dice all'investitore che il mercato </a:t>
            </a:r>
            <a:r>
              <a:rPr lang="en-US" sz="1100" i="1">
                <a:solidFill>
                  <a:schemeClr val="dk1"/>
                </a:solidFill>
              </a:rPr>
              <a:t>si sta espandendo da solo</a:t>
            </a:r>
            <a:r>
              <a:rPr lang="en-US" sz="1100">
                <a:solidFill>
                  <a:schemeClr val="dk1"/>
                </a:solidFill>
              </a:rPr>
              <a:t>, indipendentemente da chi vince.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Perché serve</a:t>
            </a:r>
            <a:r>
              <a:rPr lang="en-US" sz="1100">
                <a:solidFill>
                  <a:schemeClr val="dk1"/>
                </a:solidFill>
              </a:rPr>
              <a:t> — Il TAM è il "cielo": dice quanto spazio esiste. Non è il mercato che puoi realmente raggiungere, e infatti non è su questo che si valuta l'opportunità di business. Un TAM di €5–8B è abbastanza grande da giustificare un unicorn europeo ma non così astronomico da sembrare inventato (i deck che scrivono "$500B TAM" suonano falsi agli investitori seri).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</a:rPr>
              <a:t>SAM · €300–480 milioni/anno (Italia)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Cosa rappresenta</a:t>
            </a:r>
            <a:r>
              <a:rPr lang="en-US" sz="1100">
                <a:solidFill>
                  <a:schemeClr val="dk1"/>
                </a:solidFill>
              </a:rPr>
              <a:t> — La quota del TAM che Chorema può realisticamente servire: solo Italia, solo i tre segmenti di clientela per cui il prodotto è pensato (PA, Corporate, enti funzionali).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Come è stato costruito</a:t>
            </a:r>
            <a:r>
              <a:rPr lang="en-US" sz="1100">
                <a:solidFill>
                  <a:schemeClr val="dk1"/>
                </a:solidFill>
              </a:rPr>
              <a:t> — Non è top-down (non prendiamo il TAM e moltiplichiamo per "quota Italia"). È un </a:t>
            </a:r>
            <a:r>
              <a:rPr lang="en-US" sz="1100" b="1">
                <a:solidFill>
                  <a:schemeClr val="dk1"/>
                </a:solidFill>
              </a:rPr>
              <a:t>bottom-up</a:t>
            </a:r>
            <a:r>
              <a:rPr lang="en-US" sz="1100">
                <a:solidFill>
                  <a:schemeClr val="dk1"/>
                </a:solidFill>
              </a:rPr>
              <a:t>, che è metodologicamente più difendibile perché parte dai clienti veri. La formula: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— </a:t>
            </a:r>
            <a:r>
              <a:rPr lang="en-US" sz="1100" b="1">
                <a:solidFill>
                  <a:schemeClr val="dk1"/>
                </a:solidFill>
              </a:rPr>
              <a:t>Segmento 1 · Pubblica amministrazione e pianificazione</a:t>
            </a:r>
            <a:r>
              <a:rPr lang="en-US" sz="1100">
                <a:solidFill>
                  <a:schemeClr val="dk1"/>
                </a:solidFill>
              </a:rPr>
              <a:t> = 141 enti prioritari (20 regioni + 14 città metropolitane + 107 province + ~500 comuni sopra soglia di capacità di spesa, ma "141 prioritari" è la short-list su cui si può davvero vendere) × €50k ACV medio. </a:t>
            </a:r>
            <a:r>
              <a:rPr lang="en-US" sz="1100" b="1">
                <a:solidFill>
                  <a:schemeClr val="dk1"/>
                </a:solidFill>
              </a:rPr>
              <a:t>→ €150–200M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— </a:t>
            </a:r>
            <a:r>
              <a:rPr lang="en-US" sz="1100" b="1">
                <a:solidFill>
                  <a:schemeClr val="dk1"/>
                </a:solidFill>
              </a:rPr>
              <a:t>Segmento 2 · Corporate</a:t>
            </a:r>
            <a:r>
              <a:rPr lang="en-US" sz="1100">
                <a:solidFill>
                  <a:schemeClr val="dk1"/>
                </a:solidFill>
              </a:rPr>
              <a:t> = circa 200 aziende target (20–30 assicurazioni obbligate dalla nuova normativa catastrofale + utilities + top 50 developer immobiliari + banche con esposizione climate) × €100k ACV medio. </a:t>
            </a:r>
            <a:r>
              <a:rPr lang="en-US" sz="1100" b="1">
                <a:solidFill>
                  <a:schemeClr val="dk1"/>
                </a:solidFill>
              </a:rPr>
              <a:t>→ €100–180M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— </a:t>
            </a:r>
            <a:r>
              <a:rPr lang="en-US" sz="1100" b="1">
                <a:solidFill>
                  <a:schemeClr val="dk1"/>
                </a:solidFill>
              </a:rPr>
              <a:t>Segmento 3 · Enti funzionali</a:t>
            </a:r>
            <a:r>
              <a:rPr lang="en-US" sz="1100">
                <a:solidFill>
                  <a:schemeClr val="dk1"/>
                </a:solidFill>
              </a:rPr>
              <a:t> = circa 250 soggetti (150 DMO turistiche + fondazioni culturali + 20 agenzie regionali lavoro + organismi internazionali tipo IOM/UN) × €40k ACV medio. </a:t>
            </a:r>
            <a:r>
              <a:rPr lang="en-US" sz="1100" b="1">
                <a:solidFill>
                  <a:schemeClr val="dk1"/>
                </a:solidFill>
              </a:rPr>
              <a:t>→ €50–100M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Somma dei tre: €300–480M.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Il "maturity factor" 2–3×</a:t>
            </a:r>
            <a:r>
              <a:rPr lang="en-US" sz="1100">
                <a:solidFill>
                  <a:schemeClr val="dk1"/>
                </a:solidFill>
              </a:rPr>
              <a:t> nella nota metodologica è importante: l'ACV per cliente non resta costante, cresce nel tempo man mano che il cliente espande l'uso della piattaforma (questo è il tipico comportamento di un SaaS enterprise sano, misurato dall'NRR — Net Revenue Retention). Quindi il SAM di €300–480M è il mercato </a:t>
            </a:r>
            <a:r>
              <a:rPr lang="en-US" sz="1100" i="1">
                <a:solidFill>
                  <a:schemeClr val="dk1"/>
                </a:solidFill>
              </a:rPr>
              <a:t>a regime</a:t>
            </a:r>
            <a:r>
              <a:rPr lang="en-US" sz="1100">
                <a:solidFill>
                  <a:schemeClr val="dk1"/>
                </a:solidFill>
              </a:rPr>
              <a:t>, non quello del primo anno.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Perché serve</a:t>
            </a:r>
            <a:r>
              <a:rPr lang="en-US" sz="1100">
                <a:solidFill>
                  <a:schemeClr val="dk1"/>
                </a:solidFill>
              </a:rPr>
              <a:t> — Il SAM dice "quanto vale la torta su cui competiamo davvero". Un investitore in round seed/Series A vuole vedere un SAM di almeno €200M per giustificare un esito da €50–100M di exit. Il nostro sta comodo sopra quella soglia.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</a:rPr>
              <a:t>SOM · €20–30 milioni/anno (3 anni)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Cosa rappresenta</a:t>
            </a:r>
            <a:r>
              <a:rPr lang="en-US" sz="1100">
                <a:solidFill>
                  <a:schemeClr val="dk1"/>
                </a:solidFill>
              </a:rPr>
              <a:t> — La quota di SAM che Chorema punta a prendere entro 3 anni dalla chiusura del round. È il numero "operativo" — quello su cui costruisci il piano.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Come è stato costruito</a:t>
            </a:r>
            <a:r>
              <a:rPr lang="en-US" sz="1100">
                <a:solidFill>
                  <a:schemeClr val="dk1"/>
                </a:solidFill>
              </a:rPr>
              <a:t> — Penetrazione del </a:t>
            </a:r>
            <a:r>
              <a:rPr lang="en-US" sz="1100" b="1">
                <a:solidFill>
                  <a:schemeClr val="dk1"/>
                </a:solidFill>
              </a:rPr>
              <a:t>5–10% del SAM a 3 anni</a:t>
            </a:r>
            <a:r>
              <a:rPr lang="en-US" sz="1100">
                <a:solidFill>
                  <a:schemeClr val="dk1"/>
                </a:solidFill>
              </a:rPr>
              <a:t>, concentrata sul wedge PA + corporate (i due segmenti dove la pipeline commerciale è già attiva). €300–480M × 5–10% = €15–48M, arrotondato al range interno €20–30M.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La "honest note" nella slide è fondamentale</a:t>
            </a:r>
            <a:r>
              <a:rPr lang="en-US" sz="1100">
                <a:solidFill>
                  <a:schemeClr val="dk1"/>
                </a:solidFill>
              </a:rPr>
              <a:t> — Dice esplicitamente agli investitori: "sappiamo che questo claim è sopra la mediana Bessemer SaaS (5–15% SAM a 5 anni è top-quartile), quindi è difendibile solo con esecuzione multi-wedge + channel SI". Questa trasparenza è apprezzatissima dai VC seri — segnala che non stiamo gonfiando i numeri e che conosciamo il benchmark di settore.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Perché serve</a:t>
            </a:r>
            <a:r>
              <a:rPr lang="en-US" sz="1100">
                <a:solidFill>
                  <a:schemeClr val="dk1"/>
                </a:solidFill>
              </a:rPr>
              <a:t> — Il SOM è il ponte tra l'ambizione (TAM) e la realtà operativa. Se il SOM è €20–30M a 3 anni, e oggi facciamo €621k di revenue, vuol dire che il piano implica crescere ~40× in 3 anni, che è top-quartile ma non impossibile visto il +250% YoY 2024→2025.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</a:rPr>
              <a:t>La logica complessiva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b="1">
                <a:solidFill>
                  <a:schemeClr val="dk1"/>
                </a:solidFill>
              </a:rPr>
              <a:t>TAM </a:t>
            </a:r>
            <a:r>
              <a:rPr lang="en-US" sz="1100">
                <a:solidFill>
                  <a:schemeClr val="dk1"/>
                </a:solidFill>
              </a:rPr>
              <a:t>— €5–8B in Europa, non $500B globali.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b="1">
                <a:solidFill>
                  <a:schemeClr val="dk1"/>
                </a:solidFill>
              </a:rPr>
              <a:t>SAM bottom-up</a:t>
            </a:r>
            <a:r>
              <a:rPr lang="en-US" sz="1100">
                <a:solidFill>
                  <a:schemeClr val="dk1"/>
                </a:solidFill>
              </a:rPr>
              <a:t> — costruito partendo dai clienti, non dal TAM globale moltiplicato per percentuali arbitrarie.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b="1">
                <a:solidFill>
                  <a:schemeClr val="dk1"/>
                </a:solidFill>
              </a:rPr>
              <a:t>Driver regolatori</a:t>
            </a:r>
            <a:r>
              <a:rPr lang="en-US" sz="1100">
                <a:solidFill>
                  <a:schemeClr val="dk1"/>
                </a:solidFill>
              </a:rPr>
              <a:t> — ogni segmento ha un perché normativo che </a:t>
            </a:r>
            <a:r>
              <a:rPr lang="en-US" sz="1100" i="1">
                <a:solidFill>
                  <a:schemeClr val="dk1"/>
                </a:solidFill>
              </a:rPr>
              <a:t>costringe</a:t>
            </a:r>
            <a:r>
              <a:rPr lang="en-US" sz="1100">
                <a:solidFill>
                  <a:schemeClr val="dk1"/>
                </a:solidFill>
              </a:rPr>
              <a:t> i clienti a spendere (fondi UE, assicurazione catastrofale obbligatoria, EU Talent Pool). 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 sz="1100" b="1">
                <a:solidFill>
                  <a:schemeClr val="dk1"/>
                </a:solidFill>
              </a:rPr>
              <a:t>SOM onesto</a:t>
            </a:r>
            <a:r>
              <a:rPr lang="en-US" sz="1100">
                <a:solidFill>
                  <a:schemeClr val="dk1"/>
                </a:solidFill>
              </a:rPr>
              <a:t> — dichiariamo esplicitamente che il 5–10% è top-quartile e che serve esecuzione multi-wedge per raggiungerlo.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  <p:sp>
        <p:nvSpPr>
          <p:cNvPr id="381" name="Google Shape;381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1" name="Google Shape;431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  <p:sp>
        <p:nvSpPr>
          <p:cNvPr id="432" name="Google Shape;432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9" name="Google Shape;539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0" name="Google Shape;580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2" name="Google Shape;622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rgbClr val="0A0A0A"/>
                </a:solidFill>
                <a:highlight>
                  <a:srgbClr val="FFFFFF"/>
                </a:highlight>
              </a:rPr>
              <a:t>Pari passu</a:t>
            </a:r>
            <a:r>
              <a:rPr lang="en-US" sz="1200">
                <a:solidFill>
                  <a:srgbClr val="0A0A0A"/>
                </a:solidFill>
                <a:highlight>
                  <a:srgbClr val="FFFFFF"/>
                </a:highlight>
              </a:rPr>
              <a:t> equity indica una condizione in cui azioni o investitori godono di uguali diritti, rango e priorità. Significa che non esistono privilegi tra i vari azionisti (nuovi o vecchi) in termini di distribuzione dividendi, voti o diritti di liquidazione; tutti vengono trattati alla stessa stregua e in proporzione al loro investimento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2" name="Google Shape;702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 very much.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I'm happy to take questions — about the technology, about the ForeSkill project specifically, or about how the Chorema platform could be applied to other ETF partner countries.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reach me at luca.incerti@izilab.it, and you'll find more at izilab.it.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 Jan, and thank you all.</a:t>
            </a:r>
            <a:endParaRPr/>
          </a:p>
        </p:txBody>
      </p:sp>
      <p:sp>
        <p:nvSpPr>
          <p:cNvPr id="703" name="Google Shape;703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4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" descr="Immagine che contiene Arte frattale, Policromia, violetto, luce&#10;&#10;Il contenuto generato dall'IA potrebbe non essere corret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1117">
                  <a:alpha val="85098"/>
                </a:srgbClr>
              </a:gs>
              <a:gs pos="50000">
                <a:srgbClr val="0D1117">
                  <a:alpha val="60000"/>
                </a:srgbClr>
              </a:gs>
              <a:gs pos="100000">
                <a:srgbClr val="0D1117">
                  <a:alpha val="1019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9186402" y="461440"/>
            <a:ext cx="2496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000"/>
              <a:buFont typeface="Inter Light"/>
              <a:buNone/>
            </a:pPr>
            <a:r>
              <a:rPr lang="en-US" sz="10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INVESTOR DECK   ·   APRIL 2026</a:t>
            </a: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0"/>
              <a:buFont typeface="Arial"/>
              <a:buNone/>
            </a:pPr>
            <a:r>
              <a:rPr lang="en-US" sz="110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Chorema</a:t>
            </a:r>
            <a:endParaRPr sz="1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48640" y="352044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3EE8D6"/>
                </a:solidFill>
                <a:latin typeface="Arial"/>
                <a:ea typeface="Arial"/>
                <a:cs typeface="Arial"/>
                <a:sym typeface="Arial"/>
              </a:rPr>
              <a:t>Geospatial Futures Economics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416052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600"/>
              <a:buFont typeface="Inter Light"/>
              <a:buNone/>
            </a:pPr>
            <a:r>
              <a:rPr lang="en-US" sz="1600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The Knowledge-as-a-Service platform that makes territorial economic futures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F0F4F8"/>
              </a:buClr>
              <a:buSzPts val="1600"/>
              <a:buFont typeface="Inter Light"/>
              <a:buNone/>
            </a:pPr>
            <a:r>
              <a:rPr lang="en-US" sz="1600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navigable, measurable, and actionable.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5760720"/>
            <a:ext cx="548640" cy="36576"/>
          </a:xfrm>
          <a:prstGeom prst="rect">
            <a:avLst/>
          </a:prstGeom>
          <a:solidFill>
            <a:srgbClr val="3EE8D6"/>
          </a:solidFill>
          <a:ln w="12700" cap="flat" cmpd="sng">
            <a:solidFill>
              <a:srgbClr val="3EE8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58978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Inter Light"/>
              <a:buNone/>
            </a:pPr>
            <a:r>
              <a:rPr lang="en-US" sz="12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Martino Bellincampi</a:t>
            </a:r>
            <a:r>
              <a:rPr lang="en-US" sz="12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  CEO &amp; Co-founder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Inter Light"/>
              <a:buNone/>
            </a:pPr>
            <a:r>
              <a:rPr lang="en-US" sz="12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Luca Simeone</a:t>
            </a:r>
            <a:r>
              <a:rPr lang="en-US" sz="12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  CSO &amp; Co-founder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0" y="6263640"/>
            <a:ext cx="341071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050"/>
              <a:buFont typeface="Inter Light"/>
              <a:buNone/>
            </a:pPr>
            <a:r>
              <a:rPr lang="en-US" sz="10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Napoli  ·  Roma  ·  Bari  ·  Copenhagen</a:t>
            </a:r>
            <a:endParaRPr sz="10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6100" y="457200"/>
            <a:ext cx="927100" cy="292100"/>
          </a:xfrm>
          <a:custGeom>
            <a:avLst/>
            <a:gdLst/>
            <a:ahLst/>
            <a:cxnLst/>
            <a:rect l="l" t="t" r="r" b="b"/>
            <a:pathLst>
              <a:path w="1384665" h="446310" extrusionOk="0">
                <a:moveTo>
                  <a:pt x="0" y="0"/>
                </a:moveTo>
                <a:lnTo>
                  <a:pt x="1384665" y="0"/>
                </a:lnTo>
                <a:lnTo>
                  <a:pt x="1384665" y="446310"/>
                </a:lnTo>
                <a:lnTo>
                  <a:pt x="0" y="4463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4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" descr="Immagine che contiene Arte frattale, Policromia, violetto, luce&#10;&#10;Il contenuto generato dall'IA potrebbe non essere corret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"/>
          <p:cNvSpPr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1117">
                  <a:alpha val="85098"/>
                </a:srgbClr>
              </a:gs>
              <a:gs pos="50000">
                <a:srgbClr val="0D1117">
                  <a:alpha val="60000"/>
                </a:srgbClr>
              </a:gs>
              <a:gs pos="100000">
                <a:srgbClr val="0D1117">
                  <a:alpha val="1019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1100000"/>
            <a:ext cx="600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3EE8D6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1620000"/>
            <a:ext cx="11091672" cy="1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5400"/>
              <a:buFont typeface="Arial"/>
              <a:buNone/>
            </a:pPr>
            <a:r>
              <a:rPr lang="en-US" sz="54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We address</a:t>
            </a:r>
            <a:endParaRPr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3200000"/>
            <a:ext cx="11091672" cy="1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C8D2"/>
              </a:buClr>
              <a:buSzPts val="1800"/>
              <a:buFont typeface="Inter Light"/>
              <a:buNone/>
            </a:pPr>
            <a:r>
              <a:rPr lang="en-US" sz="1800">
                <a:solidFill>
                  <a:srgbClr val="C0C8D2"/>
                </a:solidFill>
                <a:latin typeface="Inter Light"/>
                <a:ea typeface="Inter Light"/>
                <a:cs typeface="Inter Light"/>
                <a:sym typeface="Inter Light"/>
              </a:rPr>
              <a:t>Public and private organizations face unprecedented volumes of </a:t>
            </a:r>
            <a:r>
              <a:rPr lang="en-US" sz="18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complex geospatial data without adequate tools at their disposal.</a:t>
            </a:r>
            <a:r>
              <a:rPr lang="en-US" sz="1800">
                <a:solidFill>
                  <a:srgbClr val="C0C8D2"/>
                </a:solidFill>
                <a:latin typeface="Inter Light"/>
                <a:ea typeface="Inter Light"/>
                <a:cs typeface="Inter Light"/>
                <a:sym typeface="Inter Light"/>
              </a:rPr>
              <a:t> The lack of integrated predictive models limits the ability to anticipate future scenarios. Existing solutions (traditional GIS) provide only historical analysis and static visualizations, without predictive capabilities.</a:t>
            </a: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IZILab srl  ·  Chorema  ·  Investor Deck  ·  April 2026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0363200" y="65379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2 / 18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6100" y="406400"/>
            <a:ext cx="927100" cy="292100"/>
          </a:xfrm>
          <a:custGeom>
            <a:avLst/>
            <a:gdLst/>
            <a:ahLst/>
            <a:cxnLst/>
            <a:rect l="l" t="t" r="r" b="b"/>
            <a:pathLst>
              <a:path w="1384665" h="446310" extrusionOk="0">
                <a:moveTo>
                  <a:pt x="0" y="0"/>
                </a:moveTo>
                <a:lnTo>
                  <a:pt x="1384665" y="0"/>
                </a:lnTo>
                <a:lnTo>
                  <a:pt x="1384665" y="446310"/>
                </a:lnTo>
                <a:lnTo>
                  <a:pt x="0" y="4463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4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3" descr="Immagine che contiene Arte frattale, Policromia, violetto, luce&#10;&#10;Il contenuto generato dall'IA potrebbe non essere corret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"/>
          <p:cNvSpPr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1117">
                  <a:alpha val="85098"/>
                </a:srgbClr>
              </a:gs>
              <a:gs pos="50000">
                <a:srgbClr val="0D1117">
                  <a:alpha val="60000"/>
                </a:srgbClr>
              </a:gs>
              <a:gs pos="100000">
                <a:srgbClr val="0D1117">
                  <a:alpha val="1019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457200" y="2921000"/>
            <a:ext cx="11277600" cy="3556000"/>
          </a:xfrm>
          <a:prstGeom prst="rect">
            <a:avLst/>
          </a:prstGeom>
          <a:solidFill>
            <a:srgbClr val="0D1117">
              <a:alpha val="5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548640" y="9601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050"/>
              <a:buFont typeface="Inter Light"/>
              <a:buNone/>
            </a:pPr>
            <a:r>
              <a:rPr lang="en-US" sz="105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01   ·   THE CONTEXT</a:t>
            </a:r>
            <a:endParaRPr sz="10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48640" y="1371600"/>
            <a:ext cx="11091672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4400"/>
              <a:buFont typeface="Arial"/>
              <a:buNone/>
            </a:pPr>
            <a:r>
              <a:rPr lang="en-US" sz="44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Problems and </a:t>
            </a:r>
            <a:r>
              <a:rPr lang="en-US" sz="4400" b="1">
                <a:solidFill>
                  <a:srgbClr val="3EE8D6"/>
                </a:solidFill>
                <a:latin typeface="Arial"/>
                <a:ea typeface="Arial"/>
                <a:cs typeface="Arial"/>
                <a:sym typeface="Arial"/>
              </a:rPr>
              <a:t>key questions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548640" y="2350000"/>
            <a:ext cx="11091672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600"/>
              <a:buFont typeface="Inter Light"/>
              <a:buNone/>
            </a:pPr>
            <a:r>
              <a:rPr lang="en-US" sz="16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Where decision-makers get stuck today. What Chorema makes decidable.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548640" y="3050000"/>
            <a:ext cx="52000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600"/>
              <a:buFont typeface="Inter Light"/>
              <a:buNone/>
            </a:pPr>
            <a:r>
              <a:rPr lang="en-US" sz="16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Where decision-makers get stuck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548640" y="3600000"/>
            <a:ext cx="5200000" cy="2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300"/>
              <a:buFont typeface="Inter Light"/>
              <a:buNone/>
            </a:pPr>
            <a:r>
              <a:rPr lang="en-US" sz="13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—   </a:t>
            </a:r>
            <a:r>
              <a:rPr lang="en-US" sz="1300">
                <a:solidFill>
                  <a:srgbClr val="C0C8D2"/>
                </a:solidFill>
                <a:latin typeface="Inter Light"/>
                <a:ea typeface="Inter Light"/>
                <a:cs typeface="Inter Light"/>
                <a:sym typeface="Inter Light"/>
              </a:rPr>
              <a:t>Strategic decisions made under deep uncertainty and rapid change.</a:t>
            </a:r>
            <a:endParaRPr sz="13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3EE8D6"/>
              </a:buClr>
              <a:buSzPts val="1300"/>
              <a:buFont typeface="Inter Light"/>
              <a:buNone/>
            </a:pPr>
            <a:r>
              <a:rPr lang="en-US" sz="13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—   </a:t>
            </a:r>
            <a:r>
              <a:rPr lang="en-US" sz="1300">
                <a:solidFill>
                  <a:srgbClr val="C0C8D2"/>
                </a:solidFill>
                <a:latin typeface="Inter Light"/>
                <a:ea typeface="Inter Light"/>
                <a:cs typeface="Inter Light"/>
                <a:sym typeface="Inter Light"/>
              </a:rPr>
              <a:t>Fragmented signals that fail to translate into actionable insight.</a:t>
            </a:r>
            <a:endParaRPr sz="13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3EE8D6"/>
              </a:buClr>
              <a:buSzPts val="1300"/>
              <a:buFont typeface="Inter Light"/>
              <a:buNone/>
            </a:pPr>
            <a:r>
              <a:rPr lang="en-US" sz="13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—   </a:t>
            </a:r>
            <a:r>
              <a:rPr lang="en-US" sz="1300">
                <a:solidFill>
                  <a:srgbClr val="C0C8D2"/>
                </a:solidFill>
                <a:latin typeface="Inter Light"/>
                <a:ea typeface="Inter Light"/>
                <a:cs typeface="Inter Light"/>
                <a:sym typeface="Inter Light"/>
              </a:rPr>
              <a:t>Over-reliance on short-term planning and linear forecasts.</a:t>
            </a:r>
            <a:endParaRPr sz="13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3EE8D6"/>
              </a:buClr>
              <a:buSzPts val="1300"/>
              <a:buFont typeface="Inter Light"/>
              <a:buNone/>
            </a:pPr>
            <a:r>
              <a:rPr lang="en-US" sz="13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—   </a:t>
            </a:r>
            <a:r>
              <a:rPr lang="en-US" sz="1300">
                <a:solidFill>
                  <a:srgbClr val="C0C8D2"/>
                </a:solidFill>
                <a:latin typeface="Inter Light"/>
                <a:ea typeface="Inter Light"/>
                <a:cs typeface="Inter Light"/>
                <a:sym typeface="Inter Light"/>
              </a:rPr>
              <a:t>Lack of internal foresight capability and shared sense-making.</a:t>
            </a:r>
            <a:endParaRPr sz="13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3EE8D6"/>
              </a:buClr>
              <a:buSzPts val="1300"/>
              <a:buFont typeface="Inter Light"/>
              <a:buNone/>
            </a:pPr>
            <a:r>
              <a:rPr lang="en-US" sz="13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—   </a:t>
            </a:r>
            <a:r>
              <a:rPr lang="en-US" sz="1300">
                <a:solidFill>
                  <a:srgbClr val="C0C8D2"/>
                </a:solidFill>
                <a:latin typeface="Inter Light"/>
                <a:ea typeface="Inter Light"/>
                <a:cs typeface="Inter Light"/>
                <a:sym typeface="Inter Light"/>
              </a:rPr>
              <a:t>Difficulty aligning strategy, policy, and investment to long-term goals.</a:t>
            </a:r>
            <a:endParaRPr sz="13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6250000" y="3050000"/>
            <a:ext cx="539336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600"/>
              <a:buFont typeface="Inter Light"/>
              <a:buNone/>
            </a:pPr>
            <a:r>
              <a:rPr lang="en-US" sz="16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What Chorema helps decide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6250000" y="3600000"/>
            <a:ext cx="5393360" cy="2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300"/>
              <a:buFont typeface="Inter Light"/>
              <a:buNone/>
            </a:pPr>
            <a:r>
              <a:rPr lang="en-US" sz="13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—   </a:t>
            </a:r>
            <a:r>
              <a:rPr lang="en-US" sz="1300">
                <a:solidFill>
                  <a:srgbClr val="C0C8D2"/>
                </a:solidFill>
                <a:latin typeface="Inter Light"/>
                <a:ea typeface="Inter Light"/>
                <a:cs typeface="Inter Light"/>
                <a:sym typeface="Inter Light"/>
              </a:rPr>
              <a:t>How can cities develop policies more resilient to climate, demographics, and migration?</a:t>
            </a:r>
            <a:endParaRPr sz="13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3EE8D6"/>
              </a:buClr>
              <a:buSzPts val="1300"/>
              <a:buFont typeface="Inter Light"/>
              <a:buNone/>
            </a:pPr>
            <a:r>
              <a:rPr lang="en-US" sz="13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—   </a:t>
            </a:r>
            <a:r>
              <a:rPr lang="en-US" sz="1300">
                <a:solidFill>
                  <a:srgbClr val="C0C8D2"/>
                </a:solidFill>
                <a:latin typeface="Inter Light"/>
                <a:ea typeface="Inter Light"/>
                <a:cs typeface="Inter Light"/>
                <a:sym typeface="Inter Light"/>
              </a:rPr>
              <a:t>Which emerging trends and weak signals will disrupt specific sectors in the next 5–15 years?</a:t>
            </a:r>
            <a:endParaRPr sz="13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3EE8D6"/>
              </a:buClr>
              <a:buSzPts val="1300"/>
              <a:buFont typeface="Inter Light"/>
              <a:buNone/>
            </a:pPr>
            <a:r>
              <a:rPr lang="en-US" sz="13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—   </a:t>
            </a:r>
            <a:r>
              <a:rPr lang="en-US" sz="1300">
                <a:solidFill>
                  <a:srgbClr val="C0C8D2"/>
                </a:solidFill>
                <a:latin typeface="Inter Light"/>
                <a:ea typeface="Inter Light"/>
                <a:cs typeface="Inter Light"/>
                <a:sym typeface="Inter Light"/>
              </a:rPr>
              <a:t>How robust is a company’s current strategy across different plausible futures?</a:t>
            </a:r>
            <a:endParaRPr sz="13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3EE8D6"/>
              </a:buClr>
              <a:buSzPts val="1300"/>
              <a:buFont typeface="Inter Light"/>
              <a:buNone/>
            </a:pPr>
            <a:r>
              <a:rPr lang="en-US" sz="13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—   </a:t>
            </a:r>
            <a:r>
              <a:rPr lang="en-US" sz="1300">
                <a:solidFill>
                  <a:srgbClr val="C0C8D2"/>
                </a:solidFill>
                <a:latin typeface="Inter Light"/>
                <a:ea typeface="Inter Light"/>
                <a:cs typeface="Inter Light"/>
                <a:sym typeface="Inter Light"/>
              </a:rPr>
              <a:t>Where to invest today to stay competitive and relevant tomorrow?</a:t>
            </a:r>
            <a:endParaRPr sz="13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3EE8D6"/>
              </a:buClr>
              <a:buSzPts val="1300"/>
              <a:buFont typeface="Inter Light"/>
              <a:buNone/>
            </a:pPr>
            <a:r>
              <a:rPr lang="en-US" sz="13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—   </a:t>
            </a:r>
            <a:r>
              <a:rPr lang="en-US" sz="1300">
                <a:solidFill>
                  <a:srgbClr val="C0C8D2"/>
                </a:solidFill>
                <a:latin typeface="Inter Light"/>
                <a:ea typeface="Inter Light"/>
                <a:cs typeface="Inter Light"/>
                <a:sym typeface="Inter Light"/>
              </a:rPr>
              <a:t>Which early indicators to monitor to anticipate systemic risks or opportunities?</a:t>
            </a:r>
            <a:endParaRPr sz="13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548640" y="6473952"/>
            <a:ext cx="11091672" cy="7315"/>
          </a:xfrm>
          <a:prstGeom prst="rect">
            <a:avLst/>
          </a:prstGeom>
          <a:solidFill>
            <a:srgbClr val="2A3454"/>
          </a:solidFill>
          <a:ln w="12700" cap="flat" cmpd="sng">
            <a:solidFill>
              <a:srgbClr val="2A3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IZILab srl</a:t>
            </a:r>
            <a:r>
              <a:rPr lang="en-US" sz="900">
                <a:solidFill>
                  <a:srgbClr val="5F6C82"/>
                </a:solidFill>
                <a:latin typeface="Inter Light"/>
                <a:ea typeface="Inter Light"/>
                <a:cs typeface="Inter Light"/>
                <a:sym typeface="Inter Light"/>
              </a:rPr>
              <a:t>   ·   </a:t>
            </a: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Chorema  ·  Investor Deck  ·  April 2026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0607040" y="6537960"/>
            <a:ext cx="10332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3 / 18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48640" y="406400"/>
            <a:ext cx="927100" cy="292100"/>
          </a:xfrm>
          <a:custGeom>
            <a:avLst/>
            <a:gdLst/>
            <a:ahLst/>
            <a:cxnLst/>
            <a:rect l="l" t="t" r="r" b="b"/>
            <a:pathLst>
              <a:path w="1384665" h="446310" extrusionOk="0">
                <a:moveTo>
                  <a:pt x="0" y="0"/>
                </a:moveTo>
                <a:lnTo>
                  <a:pt x="1384665" y="0"/>
                </a:lnTo>
                <a:lnTo>
                  <a:pt x="1384665" y="446310"/>
                </a:lnTo>
                <a:lnTo>
                  <a:pt x="0" y="4463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4" descr="Immagine che contiene Arte frattale, Policromia, violetto, luce&#10;&#10;Il contenuto generato dall'IA potrebbe non essere corret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1117">
                  <a:alpha val="85098"/>
                </a:srgbClr>
              </a:gs>
              <a:gs pos="50000">
                <a:srgbClr val="0D1117">
                  <a:alpha val="60000"/>
                </a:srgbClr>
              </a:gs>
              <a:gs pos="100000">
                <a:srgbClr val="0D1117">
                  <a:alpha val="1019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48640" y="9601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050"/>
              <a:buFont typeface="Inter Light"/>
              <a:buNone/>
            </a:pPr>
            <a:r>
              <a:rPr lang="en-US" sz="105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02   ·   THE PROBLEM</a:t>
            </a:r>
            <a:endParaRPr sz="10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48650" y="1280150"/>
            <a:ext cx="113562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Three classes of tools. None solves the whole problem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48640" y="2084832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600"/>
              <a:buFont typeface="Inter Light"/>
              <a:buNone/>
            </a:pPr>
            <a:r>
              <a:rPr lang="en-US" sz="16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Decision-makers’ questions cut across space, time, and economics. Each tool covers only one dimension.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48640" y="6473952"/>
            <a:ext cx="11091672" cy="7315"/>
          </a:xfrm>
          <a:prstGeom prst="rect">
            <a:avLst/>
          </a:prstGeom>
          <a:solidFill>
            <a:srgbClr val="2A3454"/>
          </a:solidFill>
          <a:ln w="12700" cap="flat" cmpd="sng">
            <a:solidFill>
              <a:srgbClr val="2A3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IZILab srl</a:t>
            </a:r>
            <a:r>
              <a:rPr lang="en-US" sz="900">
                <a:solidFill>
                  <a:srgbClr val="5F6C82"/>
                </a:solidFill>
                <a:latin typeface="Inter Light"/>
                <a:ea typeface="Inter Light"/>
                <a:cs typeface="Inter Light"/>
                <a:sym typeface="Inter Light"/>
              </a:rPr>
              <a:t>   ·   </a:t>
            </a: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Chorema  ·  Investor Deck  ·  April 2026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0607040" y="6537960"/>
            <a:ext cx="10332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4 / 18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46100" y="406400"/>
            <a:ext cx="927100" cy="292100"/>
          </a:xfrm>
          <a:custGeom>
            <a:avLst/>
            <a:gdLst/>
            <a:ahLst/>
            <a:cxnLst/>
            <a:rect l="l" t="t" r="r" b="b"/>
            <a:pathLst>
              <a:path w="1384665" h="446310" extrusionOk="0">
                <a:moveTo>
                  <a:pt x="0" y="0"/>
                </a:moveTo>
                <a:lnTo>
                  <a:pt x="1384665" y="0"/>
                </a:lnTo>
                <a:lnTo>
                  <a:pt x="1384665" y="446310"/>
                </a:lnTo>
                <a:lnTo>
                  <a:pt x="0" y="4463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57200" y="2667000"/>
            <a:ext cx="11277600" cy="3810000"/>
          </a:xfrm>
          <a:prstGeom prst="rect">
            <a:avLst/>
          </a:prstGeom>
          <a:solidFill>
            <a:srgbClr val="0D1117">
              <a:alpha val="5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46100" y="2768600"/>
            <a:ext cx="50800" cy="11176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800100" y="27686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774700" y="2870200"/>
            <a:ext cx="11430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3EE8D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71" name="Google Shape;71;p4"/>
          <p:cNvSpPr txBox="1"/>
          <p:nvPr/>
        </p:nvSpPr>
        <p:spPr>
          <a:xfrm>
            <a:off x="2070100" y="2870200"/>
            <a:ext cx="33020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Traditional GIS</a:t>
            </a:r>
            <a:endParaRPr/>
          </a:p>
        </p:txBody>
      </p:sp>
      <p:sp>
        <p:nvSpPr>
          <p:cNvPr id="72" name="Google Shape;72;p4"/>
          <p:cNvSpPr txBox="1"/>
          <p:nvPr/>
        </p:nvSpPr>
        <p:spPr>
          <a:xfrm>
            <a:off x="2070100" y="32512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ESRI · QGIS · CARTO</a:t>
            </a:r>
            <a:endParaRPr/>
          </a:p>
        </p:txBody>
      </p:sp>
      <p:sp>
        <p:nvSpPr>
          <p:cNvPr id="73" name="Google Shape;73;p4"/>
          <p:cNvSpPr txBox="1"/>
          <p:nvPr/>
        </p:nvSpPr>
        <p:spPr>
          <a:xfrm>
            <a:off x="2070100" y="35306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They don't project the future.</a:t>
            </a:r>
            <a:endParaRPr/>
          </a:p>
        </p:txBody>
      </p:sp>
      <p:sp>
        <p:nvSpPr>
          <p:cNvPr id="74" name="Google Shape;74;p4"/>
          <p:cNvSpPr txBox="1"/>
          <p:nvPr/>
        </p:nvSpPr>
        <p:spPr>
          <a:xfrm>
            <a:off x="5626100" y="2870200"/>
            <a:ext cx="5753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Historical analysis only</a:t>
            </a:r>
            <a:endParaRPr/>
          </a:p>
        </p:txBody>
      </p:sp>
      <p:sp>
        <p:nvSpPr>
          <p:cNvPr id="75" name="Google Shape;75;p4"/>
          <p:cNvSpPr txBox="1"/>
          <p:nvPr/>
        </p:nvSpPr>
        <p:spPr>
          <a:xfrm>
            <a:off x="5626100" y="3225800"/>
            <a:ext cx="5753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Static visualizations, rigid administrative boundaries, no predictive capability. They snapshot the past.</a:t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546100" y="4013200"/>
            <a:ext cx="50800" cy="1117600"/>
          </a:xfrm>
          <a:prstGeom prst="rect">
            <a:avLst/>
          </a:prstGeom>
          <a:solidFill>
            <a:srgbClr val="B24D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00100" y="40132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774700" y="4114800"/>
            <a:ext cx="11430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B24D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79" name="Google Shape;79;p4"/>
          <p:cNvSpPr txBox="1"/>
          <p:nvPr/>
        </p:nvSpPr>
        <p:spPr>
          <a:xfrm>
            <a:off x="2070100" y="4114800"/>
            <a:ext cx="33020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Foresight consulting</a:t>
            </a:r>
            <a:endParaRPr/>
          </a:p>
        </p:txBody>
      </p:sp>
      <p:sp>
        <p:nvSpPr>
          <p:cNvPr id="80" name="Google Shape;80;p4"/>
          <p:cNvSpPr txBox="1"/>
          <p:nvPr/>
        </p:nvSpPr>
        <p:spPr>
          <a:xfrm>
            <a:off x="2070100" y="44958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DELOITTE · MCKINSEY · OXFORD</a:t>
            </a:r>
            <a:endParaRPr/>
          </a:p>
        </p:txBody>
      </p:sp>
      <p:sp>
        <p:nvSpPr>
          <p:cNvPr id="81" name="Google Shape;81;p4"/>
          <p:cNvSpPr txBox="1"/>
          <p:nvPr/>
        </p:nvSpPr>
        <p:spPr>
          <a:xfrm>
            <a:off x="2070100" y="47752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1">
                <a:solidFill>
                  <a:srgbClr val="B24DFF"/>
                </a:solidFill>
                <a:latin typeface="Inter Light"/>
                <a:ea typeface="Inter Light"/>
                <a:cs typeface="Inter Light"/>
                <a:sym typeface="Inter Light"/>
              </a:rPr>
              <a:t>Don't scale, don't integrate.</a:t>
            </a:r>
            <a:endParaRPr/>
          </a:p>
        </p:txBody>
      </p:sp>
      <p:sp>
        <p:nvSpPr>
          <p:cNvPr id="82" name="Google Shape;82;p4"/>
          <p:cNvSpPr txBox="1"/>
          <p:nvPr/>
        </p:nvSpPr>
        <p:spPr>
          <a:xfrm>
            <a:off x="5626100" y="4114800"/>
            <a:ext cx="5753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B24DFF"/>
                </a:solidFill>
                <a:latin typeface="Inter Light"/>
                <a:ea typeface="Inter Light"/>
                <a:cs typeface="Inter Light"/>
                <a:sym typeface="Inter Light"/>
              </a:rPr>
              <a:t>One-shot PDFs</a:t>
            </a:r>
            <a:endParaRPr/>
          </a:p>
        </p:txBody>
      </p:sp>
      <p:sp>
        <p:nvSpPr>
          <p:cNvPr id="83" name="Google Shape;83;p4"/>
          <p:cNvSpPr txBox="1"/>
          <p:nvPr/>
        </p:nvSpPr>
        <p:spPr>
          <a:xfrm>
            <a:off x="5626100" y="4470400"/>
            <a:ext cx="5753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Annual reports, high costs, not updatable in real time, no sub-municipal granularity.</a:t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546100" y="5257800"/>
            <a:ext cx="50800" cy="11176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800100" y="52578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774700" y="5359400"/>
            <a:ext cx="11430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87" name="Google Shape;87;p4"/>
          <p:cNvSpPr txBox="1"/>
          <p:nvPr/>
        </p:nvSpPr>
        <p:spPr>
          <a:xfrm>
            <a:off x="2070100" y="5359400"/>
            <a:ext cx="33020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Generalist LLMs</a:t>
            </a:r>
            <a:endParaRPr/>
          </a:p>
        </p:txBody>
      </p:sp>
      <p:sp>
        <p:nvSpPr>
          <p:cNvPr id="88" name="Google Shape;88;p4"/>
          <p:cNvSpPr txBox="1"/>
          <p:nvPr/>
        </p:nvSpPr>
        <p:spPr>
          <a:xfrm>
            <a:off x="2070100" y="57404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CHATGPT · GEMINI · CLAUDE</a:t>
            </a:r>
            <a:endParaRPr/>
          </a:p>
        </p:txBody>
      </p:sp>
      <p:sp>
        <p:nvSpPr>
          <p:cNvPr id="89" name="Google Shape;89;p4"/>
          <p:cNvSpPr txBox="1"/>
          <p:nvPr/>
        </p:nvSpPr>
        <p:spPr>
          <a:xfrm>
            <a:off x="2070100" y="6019800"/>
            <a:ext cx="33020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1">
                <a:solidFill>
                  <a:srgbClr val="FFD166"/>
                </a:solidFill>
                <a:latin typeface="Inter Light"/>
                <a:ea typeface="Inter Light"/>
                <a:cs typeface="Inter Light"/>
                <a:sym typeface="Inter Light"/>
              </a:rPr>
              <a:t>Not reliable on real data.</a:t>
            </a:r>
            <a:endParaRPr/>
          </a:p>
        </p:txBody>
      </p:sp>
      <p:sp>
        <p:nvSpPr>
          <p:cNvPr id="90" name="Google Shape;90;p4"/>
          <p:cNvSpPr txBox="1"/>
          <p:nvPr/>
        </p:nvSpPr>
        <p:spPr>
          <a:xfrm>
            <a:off x="5626100" y="5359400"/>
            <a:ext cx="5753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FD166"/>
                </a:solidFill>
                <a:latin typeface="Inter Light"/>
                <a:ea typeface="Inter Light"/>
                <a:cs typeface="Inter Light"/>
                <a:sym typeface="Inter Light"/>
              </a:rPr>
              <a:t>Surface-level knowledge</a:t>
            </a:r>
            <a:endParaRPr/>
          </a:p>
        </p:txBody>
      </p:sp>
      <p:sp>
        <p:nvSpPr>
          <p:cNvPr id="91" name="Google Shape;91;p4"/>
          <p:cNvSpPr txBox="1"/>
          <p:nvPr/>
        </p:nvSpPr>
        <p:spPr>
          <a:xfrm>
            <a:off x="5626100" y="5715000"/>
            <a:ext cx="5753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No territorial granularity, untraceable sources, high hallucination risk on vertical domains.</a:t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800100" y="63754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4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5" descr="Immagine che contiene Arte frattale, Policromia, violetto, luce&#10;&#10;Il contenuto generato dall'IA potrebbe non essere corret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1117">
                  <a:alpha val="85098"/>
                </a:srgbClr>
              </a:gs>
              <a:gs pos="50000">
                <a:srgbClr val="0D1117">
                  <a:alpha val="60000"/>
                </a:srgbClr>
              </a:gs>
              <a:gs pos="100000">
                <a:srgbClr val="0D1117">
                  <a:alpha val="1019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57200" y="2768600"/>
            <a:ext cx="11277600" cy="3175000"/>
          </a:xfrm>
          <a:prstGeom prst="rect">
            <a:avLst/>
          </a:prstGeom>
          <a:solidFill>
            <a:srgbClr val="0D1117">
              <a:alpha val="5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48640" y="9601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050"/>
              <a:buFont typeface="Inter Light"/>
              <a:buNone/>
            </a:pPr>
            <a:r>
              <a:rPr lang="en-US" sz="105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03   ·   THE SOLUTION</a:t>
            </a:r>
            <a:endParaRPr sz="10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48640" y="128016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Chorema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48640" y="2084832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600"/>
              <a:buFont typeface="Inter Light"/>
              <a:buNone/>
            </a:pPr>
            <a:r>
              <a:rPr lang="en-US" sz="16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A Knowledge-as-a-Service platform to plan the economic futures of territories.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48640" y="6473952"/>
            <a:ext cx="11091672" cy="7315"/>
          </a:xfrm>
          <a:prstGeom prst="rect">
            <a:avLst/>
          </a:prstGeom>
          <a:solidFill>
            <a:srgbClr val="2A3454"/>
          </a:solidFill>
          <a:ln w="12700" cap="flat" cmpd="sng">
            <a:solidFill>
              <a:srgbClr val="2A3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IZILab srl</a:t>
            </a:r>
            <a:r>
              <a:rPr lang="en-US" sz="900">
                <a:solidFill>
                  <a:srgbClr val="5F6C82"/>
                </a:solidFill>
                <a:latin typeface="Inter Light"/>
                <a:ea typeface="Inter Light"/>
                <a:cs typeface="Inter Light"/>
                <a:sym typeface="Inter Light"/>
              </a:rPr>
              <a:t>   ·   </a:t>
            </a: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Chorema  ·  Investor Deck  ·  April 2026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0607040" y="6537960"/>
            <a:ext cx="10332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5 / 18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46100" y="406400"/>
            <a:ext cx="927100" cy="292100"/>
          </a:xfrm>
          <a:custGeom>
            <a:avLst/>
            <a:gdLst/>
            <a:ahLst/>
            <a:cxnLst/>
            <a:rect l="l" t="t" r="r" b="b"/>
            <a:pathLst>
              <a:path w="1384665" h="446310" extrusionOk="0">
                <a:moveTo>
                  <a:pt x="0" y="0"/>
                </a:moveTo>
                <a:lnTo>
                  <a:pt x="1384665" y="0"/>
                </a:lnTo>
                <a:lnTo>
                  <a:pt x="1384665" y="446310"/>
                </a:lnTo>
                <a:lnTo>
                  <a:pt x="0" y="4463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46100" y="2895600"/>
            <a:ext cx="50800" cy="8890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800100" y="28956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774700" y="2971800"/>
            <a:ext cx="1460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3EE8D6"/>
                </a:solidFill>
                <a:latin typeface="Arial"/>
                <a:ea typeface="Arial"/>
                <a:cs typeface="Arial"/>
                <a:sym typeface="Arial"/>
              </a:rPr>
              <a:t>8+</a:t>
            </a:r>
            <a:endParaRPr/>
          </a:p>
        </p:txBody>
      </p:sp>
      <p:sp>
        <p:nvSpPr>
          <p:cNvPr id="111" name="Google Shape;111;p5"/>
          <p:cNvSpPr txBox="1"/>
          <p:nvPr/>
        </p:nvSpPr>
        <p:spPr>
          <a:xfrm>
            <a:off x="2387600" y="2997200"/>
            <a:ext cx="977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Intelligence domains</a:t>
            </a:r>
            <a:endParaRPr/>
          </a:p>
        </p:txBody>
      </p:sp>
      <p:sp>
        <p:nvSpPr>
          <p:cNvPr id="112" name="Google Shape;112;p5"/>
          <p:cNvSpPr txBox="1"/>
          <p:nvPr/>
        </p:nvSpPr>
        <p:spPr>
          <a:xfrm>
            <a:off x="2387600" y="33528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Urban, climate, health, migration, hydrogeological risk, air quality, transport, biodiversity. Each domain has dedicated AI agents and curated data.</a:t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546100" y="3911600"/>
            <a:ext cx="50800" cy="8890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800100" y="39116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774700" y="3987800"/>
            <a:ext cx="1460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3EE8D6"/>
                </a:solidFill>
                <a:latin typeface="Arial"/>
                <a:ea typeface="Arial"/>
                <a:cs typeface="Arial"/>
                <a:sym typeface="Arial"/>
              </a:rPr>
              <a:t>200+</a:t>
            </a:r>
            <a:endParaRPr/>
          </a:p>
        </p:txBody>
      </p:sp>
      <p:sp>
        <p:nvSpPr>
          <p:cNvPr id="116" name="Google Shape;116;p5"/>
          <p:cNvSpPr txBox="1"/>
          <p:nvPr/>
        </p:nvSpPr>
        <p:spPr>
          <a:xfrm>
            <a:off x="2387600" y="4013200"/>
            <a:ext cx="977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Validated indices</a:t>
            </a:r>
            <a:endParaRPr/>
          </a:p>
        </p:txBody>
      </p:sp>
      <p:sp>
        <p:nvSpPr>
          <p:cNvPr id="117" name="Google Shape;117;p5"/>
          <p:cNvSpPr txBox="1"/>
          <p:nvPr/>
        </p:nvSpPr>
        <p:spPr>
          <a:xfrm>
            <a:off x="2387600" y="43688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Descriptive and predictive algorithms co-developed with 10+ universities (Aalborg, PoliMi, LUM). Custom indices via Index Crafter.</a:t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546100" y="4927600"/>
            <a:ext cx="50800" cy="8890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800100" y="49276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774700" y="5003800"/>
            <a:ext cx="1460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3EE8D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2387600" y="5029200"/>
            <a:ext cx="977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Specialized AI agents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2387600" y="5384800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Coordinator agent → vertical experts → critic agent flagging gaps and hallucinations. Answers anchored to the proprietary Data Lake, not LLM memory.</a:t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800100" y="58166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546100" y="6070600"/>
            <a:ext cx="2771775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80.000+</a:t>
            </a:r>
            <a:r>
              <a:rPr lang="en-US" sz="9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   GEOSPATIAL INDICATORS</a:t>
            </a:r>
            <a:endParaRPr/>
          </a:p>
        </p:txBody>
      </p:sp>
      <p:sp>
        <p:nvSpPr>
          <p:cNvPr id="125" name="Google Shape;125;p5"/>
          <p:cNvSpPr txBox="1"/>
          <p:nvPr/>
        </p:nvSpPr>
        <p:spPr>
          <a:xfrm>
            <a:off x="3317875" y="6070600"/>
            <a:ext cx="2771775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131</a:t>
            </a:r>
            <a:r>
              <a:rPr lang="en-US" sz="9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   SPECIALIZED TOOLS</a:t>
            </a:r>
            <a:endParaRPr/>
          </a:p>
        </p:txBody>
      </p:sp>
      <p:sp>
        <p:nvSpPr>
          <p:cNvPr id="126" name="Google Shape;126;p5"/>
          <p:cNvSpPr txBox="1"/>
          <p:nvPr/>
        </p:nvSpPr>
        <p:spPr>
          <a:xfrm>
            <a:off x="6089650" y="6070600"/>
            <a:ext cx="2771775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29.000</a:t>
            </a:r>
            <a:r>
              <a:rPr lang="en-US" sz="9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   INDEXED PATENTS</a:t>
            </a:r>
            <a:endParaRPr/>
          </a:p>
        </p:txBody>
      </p:sp>
      <p:sp>
        <p:nvSpPr>
          <p:cNvPr id="127" name="Google Shape;127;p5"/>
          <p:cNvSpPr txBox="1"/>
          <p:nvPr/>
        </p:nvSpPr>
        <p:spPr>
          <a:xfrm>
            <a:off x="8861425" y="6070600"/>
            <a:ext cx="2771775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4.700</a:t>
            </a:r>
            <a:r>
              <a:rPr lang="en-US" sz="9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   HEALTH INDICATORS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4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6" descr="Immagine che contiene Arte frattale, Policromia, violetto, luce&#10;&#10;Il contenuto generato dall'IA potrebbe non essere corret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1117">
                  <a:alpha val="85098"/>
                </a:srgbClr>
              </a:gs>
              <a:gs pos="50000">
                <a:srgbClr val="0D1117">
                  <a:alpha val="60000"/>
                </a:srgbClr>
              </a:gs>
              <a:gs pos="100000">
                <a:srgbClr val="0D1117">
                  <a:alpha val="1019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57200" y="2768600"/>
            <a:ext cx="11277600" cy="3822700"/>
          </a:xfrm>
          <a:prstGeom prst="rect">
            <a:avLst/>
          </a:prstGeom>
          <a:solidFill>
            <a:srgbClr val="0D1117">
              <a:alpha val="5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48640" y="9601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050"/>
              <a:buFont typeface="Inter Light"/>
              <a:buNone/>
            </a:pPr>
            <a:r>
              <a:rPr lang="en-US" sz="105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04   ·   PRODUCT ARCHITECTURE</a:t>
            </a:r>
            <a:endParaRPr sz="10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48640" y="128016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One platform. Vertical channels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48640" y="2084832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600"/>
              <a:buFont typeface="Inter Light"/>
              <a:buNone/>
            </a:pPr>
            <a:r>
              <a:rPr lang="en-US" sz="16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Verticals share the same engine and Data Lake. Every new vertical makes the whole platform denser for everyone.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48640" y="6473952"/>
            <a:ext cx="11091672" cy="7315"/>
          </a:xfrm>
          <a:prstGeom prst="rect">
            <a:avLst/>
          </a:prstGeom>
          <a:solidFill>
            <a:srgbClr val="2A3454"/>
          </a:solidFill>
          <a:ln w="12700" cap="flat" cmpd="sng">
            <a:solidFill>
              <a:srgbClr val="2A3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IZILab srl</a:t>
            </a:r>
            <a:r>
              <a:rPr lang="en-US" sz="900">
                <a:solidFill>
                  <a:srgbClr val="5F6C82"/>
                </a:solidFill>
                <a:latin typeface="Inter Light"/>
                <a:ea typeface="Inter Light"/>
                <a:cs typeface="Inter Light"/>
                <a:sym typeface="Inter Light"/>
              </a:rPr>
              <a:t>   ·   </a:t>
            </a: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Chorema  ·  Investor Deck  ·  April 2026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0607040" y="6537960"/>
            <a:ext cx="10332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6 / 18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46100" y="406400"/>
            <a:ext cx="927100" cy="292100"/>
          </a:xfrm>
          <a:custGeom>
            <a:avLst/>
            <a:gdLst/>
            <a:ahLst/>
            <a:cxnLst/>
            <a:rect l="l" t="t" r="r" b="b"/>
            <a:pathLst>
              <a:path w="1384665" h="446310" extrusionOk="0">
                <a:moveTo>
                  <a:pt x="0" y="0"/>
                </a:moveTo>
                <a:lnTo>
                  <a:pt x="1384665" y="0"/>
                </a:lnTo>
                <a:lnTo>
                  <a:pt x="1384665" y="446310"/>
                </a:lnTo>
                <a:lnTo>
                  <a:pt x="0" y="4463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800100" y="28956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46100" y="2895600"/>
            <a:ext cx="50800" cy="6858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774700" y="2997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CHOREMA — CORE PLATFORM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774700" y="3251200"/>
            <a:ext cx="108331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H3 map  ·  Time slider  ·  AI agents  ·  Data Lake  ·  Curated indices  ·  Report generation  ·  Marketplace</a:t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546100" y="3835400"/>
            <a:ext cx="50800" cy="7874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00100" y="38354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774700" y="3937000"/>
            <a:ext cx="15240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EE8D6"/>
                </a:solidFill>
                <a:latin typeface="Arial"/>
                <a:ea typeface="Arial"/>
                <a:cs typeface="Arial"/>
                <a:sym typeface="Arial"/>
              </a:rPr>
              <a:t>ForeSkill</a:t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774700" y="43180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LABOUR &amp; MIGRATION</a:t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2387600" y="3937000"/>
            <a:ext cx="6731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First European KaaS for medium-term labour mismatch forecasting. Migration corridors Colombia–Italy, Tunisia–Italy. CEDEFOP, Eurostat, Excelsior data.</a:t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2387600" y="4394200"/>
            <a:ext cx="67310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MVP under evaluation by IOM + Colombian government</a:t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546100" y="4724400"/>
            <a:ext cx="50800" cy="787400"/>
          </a:xfrm>
          <a:prstGeom prst="rect">
            <a:avLst/>
          </a:prstGeom>
          <a:solidFill>
            <a:srgbClr val="B24D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800100" y="47244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774700" y="4826000"/>
            <a:ext cx="15240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B24DFF"/>
                </a:solidFill>
                <a:latin typeface="Arial"/>
                <a:ea typeface="Arial"/>
                <a:cs typeface="Arial"/>
                <a:sym typeface="Arial"/>
              </a:rPr>
              <a:t>GeoSentinel</a:t>
            </a:r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774700" y="52070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CRITICAL INFRASTRUCTURE</a:t>
            </a:r>
            <a:endParaRPr/>
          </a:p>
        </p:txBody>
      </p:sp>
      <p:sp>
        <p:nvSpPr>
          <p:cNvPr id="157" name="Google Shape;157;p6"/>
          <p:cNvSpPr txBox="1"/>
          <p:nvPr/>
        </p:nvSpPr>
        <p:spPr>
          <a:xfrm>
            <a:off x="2387600" y="4826000"/>
            <a:ext cx="6731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Predictive IIoT intelligence. Early warning &lt; 60 seconds. Sensors integrated with geospatial data for territorial resilience and environmental monitoring.</a:t>
            </a:r>
            <a:endParaRPr/>
          </a:p>
        </p:txBody>
      </p:sp>
      <p:sp>
        <p:nvSpPr>
          <p:cNvPr id="158" name="Google Shape;158;p6"/>
          <p:cNvSpPr txBox="1"/>
          <p:nvPr/>
        </p:nvSpPr>
        <p:spPr>
          <a:xfrm>
            <a:off x="2387600" y="5283200"/>
            <a:ext cx="67310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>
                <a:solidFill>
                  <a:srgbClr val="B24DFF"/>
                </a:solidFill>
                <a:latin typeface="Inter Light"/>
                <a:ea typeface="Inter Light"/>
                <a:cs typeface="Inter Light"/>
                <a:sym typeface="Inter Light"/>
              </a:rPr>
              <a:t>STEP Lazio €381k  ·  Terna pipeline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546100" y="5613400"/>
            <a:ext cx="50800" cy="7874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800100" y="56134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774700" y="5715000"/>
            <a:ext cx="15240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StratoHealth</a:t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774700" y="60960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HEALTH &amp; ENVIRONMENT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2387600" y="5715000"/>
            <a:ext cx="6731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4,700+ health indicators (Health4All) cross-referenced with Copernicus. Health profile by address at sub-municipal scale.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2387600" y="6172200"/>
            <a:ext cx="67310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>
                <a:solidFill>
                  <a:srgbClr val="FFD166"/>
                </a:solidFill>
                <a:latin typeface="Inter Light"/>
                <a:ea typeface="Inter Light"/>
                <a:cs typeface="Inter Light"/>
                <a:sym typeface="Inter Light"/>
              </a:rPr>
              <a:t>Q3 2026 prototype</a:t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800100" y="64008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4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7" descr="Immagine che contiene Arte frattale, Policromia, violetto, luce&#10;&#10;Il contenuto generato dall'IA potrebbe non essere corret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1117">
                  <a:alpha val="85098"/>
                </a:srgbClr>
              </a:gs>
              <a:gs pos="50000">
                <a:srgbClr val="0D1117">
                  <a:alpha val="60000"/>
                </a:srgbClr>
              </a:gs>
              <a:gs pos="100000">
                <a:srgbClr val="0D1117">
                  <a:alpha val="1019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57200" y="2768600"/>
            <a:ext cx="11277600" cy="3251200"/>
          </a:xfrm>
          <a:prstGeom prst="rect">
            <a:avLst/>
          </a:prstGeom>
          <a:solidFill>
            <a:srgbClr val="0D1117">
              <a:alpha val="5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48640" y="9601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050"/>
              <a:buFont typeface="Inter Light"/>
              <a:buNone/>
            </a:pPr>
            <a:r>
              <a:rPr lang="en-US" sz="105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05   ·   DEFENSIBILITY</a:t>
            </a:r>
            <a:endParaRPr sz="10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548640" y="128016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Four cumulative, compounding assets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548640" y="2084832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600"/>
              <a:buFont typeface="Inter Light"/>
              <a:buNone/>
            </a:pPr>
            <a:r>
              <a:rPr lang="en-US" sz="16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The edge isn’t in the LLM — those converge. It’s in the knowledge infrastructure beneath them.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548640" y="3017520"/>
            <a:ext cx="545896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48640" y="3017520"/>
            <a:ext cx="50800" cy="13716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731520" y="31546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731520" y="3401568"/>
            <a:ext cx="50932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600"/>
              <a:buFont typeface="Inter Light"/>
              <a:buNone/>
            </a:pPr>
            <a:r>
              <a:rPr lang="en-US" sz="16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Proprietary Data Lake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731520" y="3794760"/>
            <a:ext cx="509320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80k+ curated indicators, GeoParquet/Parquet, continuous ETL. 5+ years of editorial curation not replicable in 6 months.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731520" y="4096512"/>
            <a:ext cx="509320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000"/>
              <a:buFont typeface="Inter Light"/>
              <a:buNone/>
            </a:pPr>
            <a:r>
              <a:rPr lang="en-US" sz="1000" i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~9 GB · monthly growth</a:t>
            </a: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181344" y="3017520"/>
            <a:ext cx="545896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6181344" y="3017520"/>
            <a:ext cx="50800" cy="13716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364224" y="31546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02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364224" y="3401568"/>
            <a:ext cx="50932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600"/>
              <a:buFont typeface="Inter Light"/>
              <a:buNone/>
            </a:pPr>
            <a:r>
              <a:rPr lang="en-US" sz="16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Proprietary indices &amp; algorithms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364224" y="3794760"/>
            <a:ext cx="509320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200+ indices co-developed with universities. Each index is IP: requires domain expertise + scientific validation.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6364224" y="4096512"/>
            <a:ext cx="509320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000"/>
              <a:buFont typeface="Inter Light"/>
              <a:buNone/>
            </a:pPr>
            <a:r>
              <a:rPr lang="en-US" sz="1000" i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Index Crafter · continuous generation</a:t>
            </a: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48640" y="4526280"/>
            <a:ext cx="545896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48640" y="4526280"/>
            <a:ext cx="50800" cy="13716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731520" y="46634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03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731520" y="4910328"/>
            <a:ext cx="50932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600"/>
              <a:buFont typeface="Inter Light"/>
              <a:buNone/>
            </a:pPr>
            <a:r>
              <a:rPr lang="en-US" sz="16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Locked-in academic network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731520" y="5303520"/>
            <a:ext cx="509320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Structural partnerships with Aalborg, PoliMi, LUM, UniCal. The research pipeline feeds the product pipeline.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731520" y="5605272"/>
            <a:ext cx="509320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000"/>
              <a:buFont typeface="Inter Light"/>
              <a:buNone/>
            </a:pPr>
            <a:r>
              <a:rPr lang="en-US" sz="1000" i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10+ universities  ·  3 continents</a:t>
            </a: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181344" y="4526280"/>
            <a:ext cx="545896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181344" y="4526280"/>
            <a:ext cx="50800" cy="13716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364224" y="46634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04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364224" y="4910328"/>
            <a:ext cx="50932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600"/>
              <a:buFont typeface="Inter Light"/>
              <a:buNone/>
            </a:pPr>
            <a:r>
              <a:rPr lang="en-US" sz="16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Vertical multi-agent architecture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364224" y="5303520"/>
            <a:ext cx="509320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13 agents with curated tools. Each agent is a vertical LLM “trained” on Chorema data. Not replicable with a prompt.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364224" y="5605272"/>
            <a:ext cx="509320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000"/>
              <a:buFont typeface="Inter Light"/>
              <a:buNone/>
            </a:pPr>
            <a:r>
              <a:rPr lang="en-US" sz="1000" i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131 tools  ·  12 domain-specific modules</a:t>
            </a: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300"/>
              <a:buFont typeface="Inter Light"/>
              <a:buNone/>
            </a:pPr>
            <a:r>
              <a:rPr lang="en-US" sz="13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⇢   Every asset compounds: more data → better indices → more precise answers → more clients → more data.</a:t>
            </a:r>
            <a:endParaRPr sz="13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IZILab srl</a:t>
            </a:r>
            <a:r>
              <a:rPr lang="en-US" sz="900">
                <a:solidFill>
                  <a:srgbClr val="5F6C82"/>
                </a:solidFill>
                <a:latin typeface="Inter Light"/>
                <a:ea typeface="Inter Light"/>
                <a:cs typeface="Inter Light"/>
                <a:sym typeface="Inter Light"/>
              </a:rPr>
              <a:t>   ·   </a:t>
            </a: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Chorema  ·  Investor Deck  ·  April 2026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10607040" y="6537960"/>
            <a:ext cx="10332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7 / 18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546100" y="406400"/>
            <a:ext cx="927100" cy="292100"/>
          </a:xfrm>
          <a:custGeom>
            <a:avLst/>
            <a:gdLst/>
            <a:ahLst/>
            <a:cxnLst/>
            <a:rect l="l" t="t" r="r" b="b"/>
            <a:pathLst>
              <a:path w="1384665" h="446310" extrusionOk="0">
                <a:moveTo>
                  <a:pt x="0" y="0"/>
                </a:moveTo>
                <a:lnTo>
                  <a:pt x="1384665" y="0"/>
                </a:lnTo>
                <a:lnTo>
                  <a:pt x="1384665" y="446310"/>
                </a:lnTo>
                <a:lnTo>
                  <a:pt x="0" y="4463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800100" y="3022600"/>
            <a:ext cx="52070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438900" y="3022600"/>
            <a:ext cx="52070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800100" y="4521200"/>
            <a:ext cx="52070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438900" y="4521200"/>
            <a:ext cx="52070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800100" y="60198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4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8" descr="Immagine che contiene Arte frattale, Policromia, violetto, luce&#10;&#10;Il contenuto generato dall'IA potrebbe non essere corret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8"/>
          <p:cNvSpPr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1117">
                  <a:alpha val="85098"/>
                </a:srgbClr>
              </a:gs>
              <a:gs pos="50000">
                <a:srgbClr val="0D1117">
                  <a:alpha val="60000"/>
                </a:srgbClr>
              </a:gs>
              <a:gs pos="100000">
                <a:srgbClr val="0D1117">
                  <a:alpha val="1019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57200" y="2006600"/>
            <a:ext cx="11277600" cy="4445000"/>
          </a:xfrm>
          <a:prstGeom prst="rect">
            <a:avLst/>
          </a:prstGeom>
          <a:solidFill>
            <a:srgbClr val="0D1117">
              <a:alpha val="5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548640" y="9601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050"/>
              <a:buFont typeface="Inter Light"/>
              <a:buNone/>
            </a:pPr>
            <a:r>
              <a:rPr lang="en-US" sz="105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06   ·   THE PROOF POINT: MUCH MORE THAN A STANDARD LLM</a:t>
            </a:r>
            <a:endParaRPr sz="10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48640" y="128016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Same question. Structurally different answers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48640" y="2057400"/>
            <a:ext cx="1109167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548640" y="2057400"/>
            <a:ext cx="36576" cy="6858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777240" y="210312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000"/>
              <a:buFont typeface="Inter Light"/>
              <a:buNone/>
            </a:pPr>
            <a:r>
              <a:rPr lang="en-US" sz="10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QUERY   </a:t>
            </a:r>
            <a:r>
              <a:rPr lang="en-US" sz="1350" i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“In which Piedmont provinces will demand for IT technicians be highest in 2025–29, and which Colombia–Italy corridors are most feasible in terms of qualification recognition?”</a:t>
            </a: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48640" y="3017520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658368" y="3017520"/>
            <a:ext cx="307238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000"/>
              <a:buFont typeface="Inter Light"/>
              <a:buNone/>
            </a:pPr>
            <a:r>
              <a:rPr lang="en-US" sz="10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DIMENSION</a:t>
            </a: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3840480" y="3017520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3950208" y="3017520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000"/>
              <a:buFont typeface="Inter Light"/>
              <a:buNone/>
            </a:pPr>
            <a:r>
              <a:rPr lang="en-US" sz="10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Claude</a:t>
            </a: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5486400" y="3017520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5596128" y="3017520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000"/>
              <a:buFont typeface="Inter Light"/>
              <a:buNone/>
            </a:pPr>
            <a:r>
              <a:rPr lang="en-US" sz="10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ChatGPT</a:t>
            </a: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7132320" y="3017520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7242048" y="3017520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000"/>
              <a:buFont typeface="Inter Light"/>
              <a:buNone/>
            </a:pPr>
            <a:r>
              <a:rPr lang="en-US" sz="10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Gemini</a:t>
            </a: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8778240" y="3017520"/>
            <a:ext cx="286207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8887968" y="3017520"/>
            <a:ext cx="26426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000"/>
              <a:buFont typeface="Inter Light"/>
              <a:buNone/>
            </a:pPr>
            <a:r>
              <a:rPr lang="en-US" sz="10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Chorema</a:t>
            </a: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548640" y="3328416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658368" y="3328416"/>
            <a:ext cx="307238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Data granularity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3840480" y="3328416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3950208" y="3328416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5486400" y="3328416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5596128" y="3328416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7132320" y="3328416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7242048" y="3328416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D166"/>
                </a:solidFill>
                <a:latin typeface="Inter Light"/>
                <a:ea typeface="Inter Light"/>
                <a:cs typeface="Inter Light"/>
                <a:sym typeface="Inter Light"/>
              </a:rPr>
              <a:t>Partial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8778240" y="3328416"/>
            <a:ext cx="2862072" cy="310896"/>
          </a:xfrm>
          <a:prstGeom prst="rect">
            <a:avLst/>
          </a:prstGeom>
          <a:solidFill>
            <a:srgbClr val="0F2330"/>
          </a:solidFill>
          <a:ln w="9525" cap="flat" cmpd="sng">
            <a:solidFill>
              <a:srgbClr val="2A3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8887968" y="3328416"/>
            <a:ext cx="26426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Yes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548640" y="3639312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658368" y="3639312"/>
            <a:ext cx="307238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Expansion vs replacement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3840480" y="3639312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3950208" y="3639312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5486400" y="3639312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5596128" y="3639312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7132320" y="3639312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7242048" y="3639312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8778240" y="3639312"/>
            <a:ext cx="2862072" cy="310896"/>
          </a:xfrm>
          <a:prstGeom prst="rect">
            <a:avLst/>
          </a:prstGeom>
          <a:solidFill>
            <a:srgbClr val="0F2330"/>
          </a:solidFill>
          <a:ln w="9525" cap="flat" cmpd="sng">
            <a:solidFill>
              <a:srgbClr val="2A3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8887968" y="3639312"/>
            <a:ext cx="26426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Yes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548640" y="3950208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658368" y="3950208"/>
            <a:ext cx="307238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Negative intelligence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840480" y="395020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3950208" y="3950208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5486400" y="395020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5596128" y="3950208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7132320" y="395020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7242048" y="3950208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8778240" y="3950208"/>
            <a:ext cx="2862072" cy="310896"/>
          </a:xfrm>
          <a:prstGeom prst="rect">
            <a:avLst/>
          </a:prstGeom>
          <a:solidFill>
            <a:srgbClr val="0F2330"/>
          </a:solidFill>
          <a:ln w="9525" cap="flat" cmpd="sng">
            <a:solidFill>
              <a:srgbClr val="2A3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8887968" y="3950208"/>
            <a:ext cx="26426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Yes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548640" y="4261104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658368" y="4261104"/>
            <a:ext cx="307238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Corridor time horizons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3840480" y="4261104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3950208" y="4261104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486400" y="4261104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5596128" y="4261104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7132320" y="4261104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7242048" y="4261104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8778240" y="4261104"/>
            <a:ext cx="2862072" cy="310896"/>
          </a:xfrm>
          <a:prstGeom prst="rect">
            <a:avLst/>
          </a:prstGeom>
          <a:solidFill>
            <a:srgbClr val="0F2330"/>
          </a:solidFill>
          <a:ln w="9525" cap="flat" cmpd="sng">
            <a:solidFill>
              <a:srgbClr val="2A3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8887968" y="4261104"/>
            <a:ext cx="26426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Yes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548640" y="4572000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658368" y="4572000"/>
            <a:ext cx="307238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Diaspora data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3840480" y="4572000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3950208" y="4572000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5486400" y="4572000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5596128" y="4572000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7132320" y="4572000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7242048" y="4572000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8778240" y="4572000"/>
            <a:ext cx="2862072" cy="310896"/>
          </a:xfrm>
          <a:prstGeom prst="rect">
            <a:avLst/>
          </a:prstGeom>
          <a:solidFill>
            <a:srgbClr val="0F2330"/>
          </a:solidFill>
          <a:ln w="9525" cap="flat" cmpd="sng">
            <a:solidFill>
              <a:srgbClr val="2A3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8887968" y="4572000"/>
            <a:ext cx="26426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Yes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548640" y="4882896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658368" y="4882896"/>
            <a:ext cx="307238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Traceable sources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3840480" y="4882896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3950208" y="4882896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Generic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5486400" y="4882896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5596128" y="4882896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D166"/>
                </a:solidFill>
                <a:latin typeface="Inter Light"/>
                <a:ea typeface="Inter Light"/>
                <a:cs typeface="Inter Light"/>
                <a:sym typeface="Inter Light"/>
              </a:rPr>
              <a:t>Good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7132320" y="4882896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7242048" y="4882896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Uncertain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8778240" y="4882896"/>
            <a:ext cx="2862072" cy="310896"/>
          </a:xfrm>
          <a:prstGeom prst="rect">
            <a:avLst/>
          </a:prstGeom>
          <a:solidFill>
            <a:srgbClr val="0F2330"/>
          </a:solidFill>
          <a:ln w="9525" cap="flat" cmpd="sng">
            <a:solidFill>
              <a:srgbClr val="2A3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8887968" y="4882896"/>
            <a:ext cx="26426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Curated · 18 sources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548640" y="5193792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658368" y="5193792"/>
            <a:ext cx="307238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Hallucination risk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3840480" y="5193792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3950208" y="5193792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Low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5486400" y="5193792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5596128" y="5193792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D166"/>
                </a:solidFill>
                <a:latin typeface="Inter Light"/>
                <a:ea typeface="Inter Light"/>
                <a:cs typeface="Inter Light"/>
                <a:sym typeface="Inter Light"/>
              </a:rPr>
              <a:t>Medium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7132320" y="5193792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7242048" y="5193792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High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8778240" y="5193792"/>
            <a:ext cx="2862072" cy="310896"/>
          </a:xfrm>
          <a:prstGeom prst="rect">
            <a:avLst/>
          </a:prstGeom>
          <a:solidFill>
            <a:srgbClr val="0F2330"/>
          </a:solidFill>
          <a:ln w="9525" cap="flat" cmpd="sng">
            <a:solidFill>
              <a:srgbClr val="2A3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8887968" y="5193792"/>
            <a:ext cx="26426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Contained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48640" y="5504688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658368" y="5504688"/>
            <a:ext cx="307238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Actionability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3840480" y="550468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3950208" y="5504688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None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5486400" y="550468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5596128" y="5504688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D166"/>
                </a:solidFill>
                <a:latin typeface="Inter Light"/>
                <a:ea typeface="Inter Light"/>
                <a:cs typeface="Inter Light"/>
                <a:sym typeface="Inter Light"/>
              </a:rPr>
              <a:t>Partial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7132320" y="5504688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7242048" y="5504688"/>
            <a:ext cx="1426464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D166"/>
                </a:solidFill>
                <a:latin typeface="Inter Light"/>
                <a:ea typeface="Inter Light"/>
                <a:cs typeface="Inter Light"/>
                <a:sym typeface="Inter Light"/>
              </a:rPr>
              <a:t>Apparent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8778240" y="5504688"/>
            <a:ext cx="2862072" cy="310896"/>
          </a:xfrm>
          <a:prstGeom prst="rect">
            <a:avLst/>
          </a:prstGeom>
          <a:solidFill>
            <a:srgbClr val="0F2330"/>
          </a:solidFill>
          <a:ln w="9525" cap="flat" cmpd="sng">
            <a:solidFill>
              <a:srgbClr val="2A3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8887968" y="5504688"/>
            <a:ext cx="26426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Full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400"/>
              <a:buFont typeface="Inter Light"/>
              <a:buNone/>
            </a:pPr>
            <a:r>
              <a:rPr lang="en-US" sz="14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→   The difference isn’t in the model. It’s in the underlying knowledge infrastructure.</a:t>
            </a:r>
            <a:endParaRPr sz="14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IZILab srl</a:t>
            </a:r>
            <a:r>
              <a:rPr lang="en-US" sz="900">
                <a:solidFill>
                  <a:srgbClr val="5F6C82"/>
                </a:solidFill>
                <a:latin typeface="Inter Light"/>
                <a:ea typeface="Inter Light"/>
                <a:cs typeface="Inter Light"/>
                <a:sym typeface="Inter Light"/>
              </a:rPr>
              <a:t>   ·   </a:t>
            </a: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Chorema  ·  Investor Deck  ·  April 2026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10607040" y="6537960"/>
            <a:ext cx="10332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8 / 18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546100" y="406400"/>
            <a:ext cx="927100" cy="292100"/>
          </a:xfrm>
          <a:custGeom>
            <a:avLst/>
            <a:gdLst/>
            <a:ahLst/>
            <a:cxnLst/>
            <a:rect l="l" t="t" r="r" b="b"/>
            <a:pathLst>
              <a:path w="1384665" h="446310" extrusionOk="0">
                <a:moveTo>
                  <a:pt x="0" y="0"/>
                </a:moveTo>
                <a:lnTo>
                  <a:pt x="1384665" y="0"/>
                </a:lnTo>
                <a:lnTo>
                  <a:pt x="1384665" y="446310"/>
                </a:lnTo>
                <a:lnTo>
                  <a:pt x="0" y="4463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546100" y="3022600"/>
            <a:ext cx="11087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546100" y="3327400"/>
            <a:ext cx="11087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546100" y="3644900"/>
            <a:ext cx="11087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546100" y="3949700"/>
            <a:ext cx="11087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546100" y="4267200"/>
            <a:ext cx="11087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546100" y="4572000"/>
            <a:ext cx="11087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546100" y="4876800"/>
            <a:ext cx="11087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546100" y="5194300"/>
            <a:ext cx="11087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546100" y="5499100"/>
            <a:ext cx="11087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546100" y="5803900"/>
            <a:ext cx="11087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4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9" descr="Immagine che contiene Arte frattale, Policromia, violetto, luce&#10;&#10;Il contenuto generato dall'IA potrebbe non essere corret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52093"/>
            <a:ext cx="1219200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9"/>
          <p:cNvSpPr/>
          <p:nvPr/>
        </p:nvSpPr>
        <p:spPr>
          <a:xfrm rot="10800000">
            <a:off x="0" y="-69133"/>
            <a:ext cx="12192000" cy="6858000"/>
          </a:xfrm>
          <a:prstGeom prst="rect">
            <a:avLst/>
          </a:prstGeom>
          <a:gradFill>
            <a:gsLst>
              <a:gs pos="0">
                <a:srgbClr val="0D1117">
                  <a:alpha val="85098"/>
                </a:srgbClr>
              </a:gs>
              <a:gs pos="50000">
                <a:srgbClr val="0D1117">
                  <a:alpha val="60000"/>
                </a:srgbClr>
              </a:gs>
              <a:gs pos="100000">
                <a:srgbClr val="0D1117">
                  <a:alpha val="1019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5994400" y="2616507"/>
            <a:ext cx="5689500" cy="3454500"/>
          </a:xfrm>
          <a:prstGeom prst="rect">
            <a:avLst/>
          </a:prstGeom>
          <a:solidFill>
            <a:srgbClr val="0D1117">
              <a:alpha val="5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548640" y="9601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050"/>
              <a:buFont typeface="Inter Light"/>
              <a:buNone/>
            </a:pPr>
            <a:r>
              <a:rPr lang="en-US" sz="105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07   ·   TRACTION</a:t>
            </a:r>
            <a:endParaRPr sz="10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548640" y="128016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400"/>
              <a:buFont typeface="Arial"/>
              <a:buNone/>
            </a:pPr>
            <a:r>
              <a:rPr lang="en-US" sz="33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+250% YoY revenue · EBITDA positive already in 2025</a:t>
            </a:r>
            <a:endParaRPr sz="3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548640" y="2084832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600"/>
              <a:buFont typeface="Inter Light"/>
              <a:buNone/>
            </a:pPr>
            <a:r>
              <a:rPr lang="en-US" sz="16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Not a prototype: already in production with national institutions and energy operators.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aphicFrame>
        <p:nvGraphicFramePr>
          <p:cNvPr id="340" name="Google Shape;340;p9"/>
          <p:cNvGraphicFramePr/>
          <p:nvPr/>
        </p:nvGraphicFramePr>
        <p:xfrm>
          <a:off x="548640" y="2773987"/>
          <a:ext cx="5303400" cy="329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1" name="Google Shape;341;p9"/>
          <p:cNvSpPr/>
          <p:nvPr/>
        </p:nvSpPr>
        <p:spPr>
          <a:xfrm>
            <a:off x="548640" y="6227506"/>
            <a:ext cx="5303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2024 → 2025: </a:t>
            </a:r>
            <a:r>
              <a:rPr lang="en-US" sz="11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+249% YoY</a:t>
            </a:r>
            <a:r>
              <a:rPr lang="en-US" sz="11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   ·   EBITDA 2025: </a:t>
            </a:r>
            <a:r>
              <a:rPr lang="en-US" sz="11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€180k (29% margin)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6080760" y="2728267"/>
            <a:ext cx="555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050"/>
              <a:buFont typeface="Inter Light"/>
              <a:buNone/>
            </a:pPr>
            <a:r>
              <a:rPr lang="en-US" sz="105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CLIENTS IN PRODUCTION</a:t>
            </a:r>
            <a:endParaRPr sz="10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6080760" y="3094027"/>
            <a:ext cx="555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6080760" y="3094027"/>
            <a:ext cx="50700" cy="4572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6263640" y="3139747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Inter Light"/>
              <a:buNone/>
            </a:pPr>
            <a:r>
              <a:rPr lang="en-US" sz="12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MIT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8366760" y="3130603"/>
            <a:ext cx="3200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50"/>
              <a:buFont typeface="Inter Light"/>
              <a:buNone/>
            </a:pPr>
            <a:r>
              <a:rPr lang="en-US" sz="9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Italian Ministry of Infrastructure &amp; Transport</a:t>
            </a:r>
            <a:endParaRPr sz="9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50"/>
              <a:buFont typeface="Inter Light"/>
              <a:buNone/>
            </a:pPr>
            <a:r>
              <a:rPr lang="en-US" sz="9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PNRR intelligence dashboard · €40B · 1,547 projects</a:t>
            </a:r>
            <a:endParaRPr sz="9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6080760" y="3596947"/>
            <a:ext cx="555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6080760" y="3596947"/>
            <a:ext cx="50700" cy="4572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6263640" y="3642667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Inter Light"/>
              <a:buNone/>
            </a:pPr>
            <a:r>
              <a:rPr lang="en-US" sz="12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Sorgenia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8366760" y="3633523"/>
            <a:ext cx="3200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50"/>
              <a:buFont typeface="Inter Light"/>
              <a:buNone/>
            </a:pPr>
            <a:r>
              <a:rPr lang="en-US" sz="9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Innovation Observatory</a:t>
            </a:r>
            <a:endParaRPr sz="9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50"/>
              <a:buFont typeface="Inter Light"/>
              <a:buNone/>
            </a:pPr>
            <a:r>
              <a:rPr lang="en-US" sz="9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Long-term energy innovation foresight</a:t>
            </a:r>
            <a:endParaRPr sz="9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6080760" y="4099867"/>
            <a:ext cx="555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6080760" y="4099867"/>
            <a:ext cx="50700" cy="4572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6263640" y="4145587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Inter Light"/>
              <a:buNone/>
            </a:pPr>
            <a:r>
              <a:rPr lang="en-US" sz="12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Roma Capitale · Zetema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8366760" y="4136443"/>
            <a:ext cx="3200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50"/>
              <a:buFont typeface="Inter Light"/>
              <a:buNone/>
            </a:pPr>
            <a:r>
              <a:rPr lang="en-US" sz="9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Osservatorio culturale metropolitano</a:t>
            </a:r>
            <a:endParaRPr sz="9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50"/>
              <a:buFont typeface="Inter Light"/>
              <a:buNone/>
            </a:pPr>
            <a:r>
              <a:rPr lang="en-US" sz="9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Territorial intelligence for cultural services</a:t>
            </a:r>
            <a:endParaRPr sz="9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6080760" y="4602787"/>
            <a:ext cx="555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6080760" y="4602787"/>
            <a:ext cx="50700" cy="4572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6263640" y="4648507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Inter Light"/>
              <a:buNone/>
            </a:pPr>
            <a:r>
              <a:rPr lang="en-US" sz="12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ARTI Puglia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8366760" y="4639363"/>
            <a:ext cx="3200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50"/>
              <a:buFont typeface="Inter Light"/>
              <a:buNone/>
            </a:pPr>
            <a:r>
              <a:rPr lang="en-US" sz="9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Osservatorio S3 regionale</a:t>
            </a:r>
            <a:endParaRPr sz="9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50"/>
              <a:buFont typeface="Inter Light"/>
              <a:buNone/>
            </a:pPr>
            <a:r>
              <a:rPr lang="en-US" sz="9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Workshop foresight filiere aeronautica e ICT</a:t>
            </a:r>
            <a:endParaRPr sz="9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6080760" y="5105707"/>
            <a:ext cx="555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6080760" y="5105707"/>
            <a:ext cx="50700" cy="4572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6263640" y="5151427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Inter Light"/>
              <a:buNone/>
            </a:pPr>
            <a:r>
              <a:rPr lang="en-US" sz="12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Parmigiano Reggiano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8366760" y="5142283"/>
            <a:ext cx="3200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50"/>
              <a:buFont typeface="Inter Light"/>
              <a:buNone/>
            </a:pPr>
            <a:r>
              <a:rPr lang="en-US" sz="9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Intelligence territoriale di filiera</a:t>
            </a:r>
            <a:endParaRPr sz="9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50"/>
              <a:buFont typeface="Inter Light"/>
              <a:buNone/>
            </a:pPr>
            <a:r>
              <a:rPr lang="en-US" sz="9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Consorzio agrifood</a:t>
            </a:r>
            <a:endParaRPr sz="9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6080760" y="5608627"/>
            <a:ext cx="555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6080760" y="5608627"/>
            <a:ext cx="50700" cy="4572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6263640" y="5654347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Inter Light"/>
              <a:buNone/>
            </a:pPr>
            <a:r>
              <a:rPr lang="en-US" sz="12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Pathways International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8366760" y="5645203"/>
            <a:ext cx="3200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50"/>
              <a:buFont typeface="Inter Light"/>
              <a:buNone/>
            </a:pPr>
            <a:r>
              <a:rPr lang="en-US" sz="9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Labor mobility intelligence</a:t>
            </a:r>
            <a:endParaRPr sz="9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50"/>
              <a:buFont typeface="Inter Light"/>
              <a:buNone/>
            </a:pPr>
            <a:r>
              <a:rPr lang="en-US" sz="9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Colombia–Italy migration corridors</a:t>
            </a:r>
            <a:endParaRPr sz="9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IZILab srl</a:t>
            </a:r>
            <a:r>
              <a:rPr lang="en-US" sz="900">
                <a:solidFill>
                  <a:srgbClr val="5F6C82"/>
                </a:solidFill>
                <a:latin typeface="Inter Light"/>
                <a:ea typeface="Inter Light"/>
                <a:cs typeface="Inter Light"/>
                <a:sym typeface="Inter Light"/>
              </a:rPr>
              <a:t>   ·   </a:t>
            </a: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Chorema  ·  Investor Deck  ·  April 2026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10607040" y="6537960"/>
            <a:ext cx="10332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9 / 18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546100" y="406400"/>
            <a:ext cx="927100" cy="292100"/>
          </a:xfrm>
          <a:custGeom>
            <a:avLst/>
            <a:gdLst/>
            <a:ahLst/>
            <a:cxnLst/>
            <a:rect l="l" t="t" r="r" b="b"/>
            <a:pathLst>
              <a:path w="1384665" h="446310" extrusionOk="0">
                <a:moveTo>
                  <a:pt x="0" y="0"/>
                </a:moveTo>
                <a:lnTo>
                  <a:pt x="1384665" y="0"/>
                </a:lnTo>
                <a:lnTo>
                  <a:pt x="1384665" y="446310"/>
                </a:lnTo>
                <a:lnTo>
                  <a:pt x="0" y="4463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6261100" y="3099107"/>
            <a:ext cx="5372100" cy="630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6261100" y="3594407"/>
            <a:ext cx="5372100" cy="630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6261100" y="4102407"/>
            <a:ext cx="5372100" cy="630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6261100" y="4597707"/>
            <a:ext cx="5372100" cy="630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6261100" y="5105707"/>
            <a:ext cx="5372100" cy="630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6261100" y="5613707"/>
            <a:ext cx="5372100" cy="630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6261100" y="6223000"/>
            <a:ext cx="5372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4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10" descr="Immagine che contiene Arte frattale, Policromia, violetto, luce&#10;&#10;Il contenuto generato dall'IA potrebbe non essere corret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0"/>
          <p:cNvSpPr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1117">
                  <a:alpha val="85098"/>
                </a:srgbClr>
              </a:gs>
              <a:gs pos="50000">
                <a:srgbClr val="0D1117">
                  <a:alpha val="60000"/>
                </a:srgbClr>
              </a:gs>
              <a:gs pos="100000">
                <a:srgbClr val="0D1117">
                  <a:alpha val="1019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457200" y="2794000"/>
            <a:ext cx="11277600" cy="3860800"/>
          </a:xfrm>
          <a:prstGeom prst="rect">
            <a:avLst/>
          </a:prstGeom>
          <a:solidFill>
            <a:srgbClr val="0D1117">
              <a:alpha val="5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548640" y="9601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050"/>
              <a:buFont typeface="Inter Light"/>
              <a:buNone/>
            </a:pPr>
            <a:r>
              <a:rPr lang="en-US" sz="105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08   ·   MARKET</a:t>
            </a:r>
            <a:endParaRPr sz="10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548640" y="128016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€300–480M/year of addressable spend in Italy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548640" y="2084832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600"/>
              <a:buFont typeface="Inter Light"/>
              <a:buNone/>
            </a:pPr>
            <a:r>
              <a:rPr lang="en-US" sz="16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Three segments with structural regulatory drivers. Chorema 3-year SAM: €20–30M/year.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548640" y="6473952"/>
            <a:ext cx="11091672" cy="7315"/>
          </a:xfrm>
          <a:prstGeom prst="rect">
            <a:avLst/>
          </a:prstGeom>
          <a:solidFill>
            <a:srgbClr val="2A3454"/>
          </a:solidFill>
          <a:ln w="12700" cap="flat" cmpd="sng">
            <a:solidFill>
              <a:srgbClr val="2A3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IZILab srl</a:t>
            </a:r>
            <a:r>
              <a:rPr lang="en-US" sz="900">
                <a:solidFill>
                  <a:srgbClr val="5F6C82"/>
                </a:solidFill>
                <a:latin typeface="Inter Light"/>
                <a:ea typeface="Inter Light"/>
                <a:cs typeface="Inter Light"/>
                <a:sym typeface="Inter Light"/>
              </a:rPr>
              <a:t>   ·   </a:t>
            </a: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Chorema  ·  Investor Deck  ·  April 2026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10607040" y="6537960"/>
            <a:ext cx="10332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10 / 18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546100" y="406400"/>
            <a:ext cx="927100" cy="292100"/>
          </a:xfrm>
          <a:custGeom>
            <a:avLst/>
            <a:gdLst/>
            <a:ahLst/>
            <a:cxnLst/>
            <a:rect l="l" t="t" r="r" b="b"/>
            <a:pathLst>
              <a:path w="1384665" h="446310" extrusionOk="0">
                <a:moveTo>
                  <a:pt x="0" y="0"/>
                </a:moveTo>
                <a:lnTo>
                  <a:pt x="1384665" y="0"/>
                </a:lnTo>
                <a:lnTo>
                  <a:pt x="1384665" y="446310"/>
                </a:lnTo>
                <a:lnTo>
                  <a:pt x="0" y="4463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546100" y="2921000"/>
            <a:ext cx="11087100" cy="6350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 txBox="1"/>
          <p:nvPr/>
        </p:nvSpPr>
        <p:spPr>
          <a:xfrm>
            <a:off x="546100" y="3022600"/>
            <a:ext cx="36957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TAM · EU</a:t>
            </a:r>
            <a:endParaRPr/>
          </a:p>
        </p:txBody>
      </p:sp>
      <p:sp>
        <p:nvSpPr>
          <p:cNvPr id="395" name="Google Shape;395;p10"/>
          <p:cNvSpPr txBox="1"/>
          <p:nvPr/>
        </p:nvSpPr>
        <p:spPr>
          <a:xfrm>
            <a:off x="546100" y="3225800"/>
            <a:ext cx="36957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€5–8B</a:t>
            </a:r>
            <a:endParaRPr/>
          </a:p>
        </p:txBody>
      </p:sp>
      <p:sp>
        <p:nvSpPr>
          <p:cNvPr id="396" name="Google Shape;396;p10"/>
          <p:cNvSpPr txBox="1"/>
          <p:nvPr/>
        </p:nvSpPr>
        <p:spPr>
          <a:xfrm>
            <a:off x="4241800" y="3022600"/>
            <a:ext cx="36957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SAM · ITALY</a:t>
            </a:r>
            <a:endParaRPr/>
          </a:p>
        </p:txBody>
      </p:sp>
      <p:sp>
        <p:nvSpPr>
          <p:cNvPr id="397" name="Google Shape;397;p10"/>
          <p:cNvSpPr txBox="1"/>
          <p:nvPr/>
        </p:nvSpPr>
        <p:spPr>
          <a:xfrm>
            <a:off x="4241800" y="3225800"/>
            <a:ext cx="36957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€300–480M</a:t>
            </a:r>
            <a:endParaRPr/>
          </a:p>
        </p:txBody>
      </p:sp>
      <p:sp>
        <p:nvSpPr>
          <p:cNvPr id="398" name="Google Shape;398;p10"/>
          <p:cNvSpPr txBox="1"/>
          <p:nvPr/>
        </p:nvSpPr>
        <p:spPr>
          <a:xfrm>
            <a:off x="7937500" y="3022600"/>
            <a:ext cx="36957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SOM · 3Y</a:t>
            </a:r>
            <a:endParaRPr/>
          </a:p>
        </p:txBody>
      </p:sp>
      <p:sp>
        <p:nvSpPr>
          <p:cNvPr id="399" name="Google Shape;399;p10"/>
          <p:cNvSpPr txBox="1"/>
          <p:nvPr/>
        </p:nvSpPr>
        <p:spPr>
          <a:xfrm>
            <a:off x="7937500" y="3225800"/>
            <a:ext cx="36957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€20–30M</a:t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546100" y="3759200"/>
            <a:ext cx="50800" cy="7620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800100" y="37592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 txBox="1"/>
          <p:nvPr/>
        </p:nvSpPr>
        <p:spPr>
          <a:xfrm>
            <a:off x="774700" y="3886200"/>
            <a:ext cx="17145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EE8D6"/>
                </a:solidFill>
                <a:latin typeface="Arial"/>
                <a:ea typeface="Arial"/>
                <a:cs typeface="Arial"/>
                <a:sym typeface="Arial"/>
              </a:rPr>
              <a:t>€150–200M</a:t>
            </a:r>
            <a:endParaRPr/>
          </a:p>
        </p:txBody>
      </p:sp>
      <p:sp>
        <p:nvSpPr>
          <p:cNvPr id="403" name="Google Shape;403;p10"/>
          <p:cNvSpPr txBox="1"/>
          <p:nvPr/>
        </p:nvSpPr>
        <p:spPr>
          <a:xfrm>
            <a:off x="774700" y="4241800"/>
            <a:ext cx="17145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SEGMENT TAM</a:t>
            </a:r>
            <a:endParaRPr/>
          </a:p>
        </p:txBody>
      </p:sp>
      <p:sp>
        <p:nvSpPr>
          <p:cNvPr id="404" name="Google Shape;404;p10"/>
          <p:cNvSpPr txBox="1"/>
          <p:nvPr/>
        </p:nvSpPr>
        <p:spPr>
          <a:xfrm>
            <a:off x="2578100" y="3835400"/>
            <a:ext cx="68580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r>
              <a:rPr lang="en-US" sz="1800" b="1">
                <a:solidFill>
                  <a:srgbClr val="F0F4F8"/>
                </a:solidFill>
              </a:rPr>
              <a:t>a</a:t>
            </a:r>
            <a:r>
              <a:rPr lang="en-US" sz="18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dmin &amp; planning</a:t>
            </a:r>
            <a:endParaRPr/>
          </a:p>
        </p:txBody>
      </p:sp>
      <p:sp>
        <p:nvSpPr>
          <p:cNvPr id="405" name="Google Shape;405;p10"/>
          <p:cNvSpPr txBox="1"/>
          <p:nvPr/>
        </p:nvSpPr>
        <p:spPr>
          <a:xfrm>
            <a:off x="2578100" y="4102100"/>
            <a:ext cx="68580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20 regions · 14 metro cities · 107 provinces · 500 municipalities with spending capacity.</a:t>
            </a:r>
            <a:endParaRPr/>
          </a:p>
        </p:txBody>
      </p:sp>
      <p:sp>
        <p:nvSpPr>
          <p:cNvPr id="406" name="Google Shape;406;p10"/>
          <p:cNvSpPr txBox="1"/>
          <p:nvPr/>
        </p:nvSpPr>
        <p:spPr>
          <a:xfrm>
            <a:off x="2578100" y="4318000"/>
            <a:ext cx="68580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DRIVER  </a:t>
            </a:r>
            <a:r>
              <a:rPr lang="en-US" sz="10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EU structural funds 2021–27 · PNRR · climate plans · 15-minute city</a:t>
            </a:r>
            <a:endParaRPr/>
          </a:p>
        </p:txBody>
      </p:sp>
      <p:sp>
        <p:nvSpPr>
          <p:cNvPr id="407" name="Google Shape;407;p10"/>
          <p:cNvSpPr txBox="1"/>
          <p:nvPr/>
        </p:nvSpPr>
        <p:spPr>
          <a:xfrm>
            <a:off x="9144000" y="38862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€40–100k</a:t>
            </a:r>
            <a:endParaRPr/>
          </a:p>
        </p:txBody>
      </p:sp>
      <p:sp>
        <p:nvSpPr>
          <p:cNvPr id="408" name="Google Shape;408;p10"/>
          <p:cNvSpPr txBox="1"/>
          <p:nvPr/>
        </p:nvSpPr>
        <p:spPr>
          <a:xfrm>
            <a:off x="9144000" y="4216400"/>
            <a:ext cx="24892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AVG ACV</a:t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546100" y="4597400"/>
            <a:ext cx="50800" cy="762000"/>
          </a:xfrm>
          <a:prstGeom prst="rect">
            <a:avLst/>
          </a:prstGeom>
          <a:solidFill>
            <a:srgbClr val="B24D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800100" y="45974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 txBox="1"/>
          <p:nvPr/>
        </p:nvSpPr>
        <p:spPr>
          <a:xfrm>
            <a:off x="774700" y="4724400"/>
            <a:ext cx="17145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B24DFF"/>
                </a:solidFill>
                <a:latin typeface="Arial"/>
                <a:ea typeface="Arial"/>
                <a:cs typeface="Arial"/>
                <a:sym typeface="Arial"/>
              </a:rPr>
              <a:t>€100–180M</a:t>
            </a:r>
            <a:endParaRPr/>
          </a:p>
        </p:txBody>
      </p:sp>
      <p:sp>
        <p:nvSpPr>
          <p:cNvPr id="412" name="Google Shape;412;p10"/>
          <p:cNvSpPr txBox="1"/>
          <p:nvPr/>
        </p:nvSpPr>
        <p:spPr>
          <a:xfrm>
            <a:off x="774700" y="5080000"/>
            <a:ext cx="17145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SEGMENT TAM</a:t>
            </a:r>
            <a:endParaRPr/>
          </a:p>
        </p:txBody>
      </p:sp>
      <p:sp>
        <p:nvSpPr>
          <p:cNvPr id="413" name="Google Shape;413;p10"/>
          <p:cNvSpPr txBox="1"/>
          <p:nvPr/>
        </p:nvSpPr>
        <p:spPr>
          <a:xfrm>
            <a:off x="2578100" y="4673600"/>
            <a:ext cx="68580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Corporate</a:t>
            </a:r>
            <a:endParaRPr/>
          </a:p>
        </p:txBody>
      </p:sp>
      <p:sp>
        <p:nvSpPr>
          <p:cNvPr id="414" name="Google Shape;414;p10"/>
          <p:cNvSpPr txBox="1"/>
          <p:nvPr/>
        </p:nvSpPr>
        <p:spPr>
          <a:xfrm>
            <a:off x="2578100" y="4940300"/>
            <a:ext cx="68580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20–30 insurers · utilities · top 50 real-estate developers · banks with exposure.</a:t>
            </a:r>
            <a:endParaRPr/>
          </a:p>
        </p:txBody>
      </p:sp>
      <p:sp>
        <p:nvSpPr>
          <p:cNvPr id="415" name="Google Shape;415;p10"/>
          <p:cNvSpPr txBox="1"/>
          <p:nvPr/>
        </p:nvSpPr>
        <p:spPr>
          <a:xfrm>
            <a:off x="2578100" y="5156200"/>
            <a:ext cx="68580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DRIVER  </a:t>
            </a:r>
            <a:r>
              <a:rPr lang="en-US" sz="10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Mandatory catastrophe insurance (2025) · EIOPA stress tests · CRO · ESG</a:t>
            </a:r>
            <a:endParaRPr/>
          </a:p>
        </p:txBody>
      </p:sp>
      <p:sp>
        <p:nvSpPr>
          <p:cNvPr id="416" name="Google Shape;416;p10"/>
          <p:cNvSpPr txBox="1"/>
          <p:nvPr/>
        </p:nvSpPr>
        <p:spPr>
          <a:xfrm>
            <a:off x="9144000" y="47244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24DFF"/>
                </a:solidFill>
                <a:latin typeface="Inter Light"/>
                <a:ea typeface="Inter Light"/>
                <a:cs typeface="Inter Light"/>
                <a:sym typeface="Inter Light"/>
              </a:rPr>
              <a:t>€80–120k</a:t>
            </a:r>
            <a:endParaRPr/>
          </a:p>
        </p:txBody>
      </p:sp>
      <p:sp>
        <p:nvSpPr>
          <p:cNvPr id="417" name="Google Shape;417;p10"/>
          <p:cNvSpPr txBox="1"/>
          <p:nvPr/>
        </p:nvSpPr>
        <p:spPr>
          <a:xfrm>
            <a:off x="9144000" y="5054600"/>
            <a:ext cx="24892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AVG ACV</a:t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546100" y="5435600"/>
            <a:ext cx="50800" cy="762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800100" y="54356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 txBox="1"/>
          <p:nvPr/>
        </p:nvSpPr>
        <p:spPr>
          <a:xfrm>
            <a:off x="774700" y="5562600"/>
            <a:ext cx="17145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€50–100M</a:t>
            </a:r>
            <a:endParaRPr/>
          </a:p>
        </p:txBody>
      </p:sp>
      <p:sp>
        <p:nvSpPr>
          <p:cNvPr id="421" name="Google Shape;421;p10"/>
          <p:cNvSpPr txBox="1"/>
          <p:nvPr/>
        </p:nvSpPr>
        <p:spPr>
          <a:xfrm>
            <a:off x="774700" y="5918200"/>
            <a:ext cx="17145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SEGMENT TAM</a:t>
            </a:r>
            <a:endParaRPr/>
          </a:p>
        </p:txBody>
      </p:sp>
      <p:sp>
        <p:nvSpPr>
          <p:cNvPr id="422" name="Google Shape;422;p10"/>
          <p:cNvSpPr txBox="1"/>
          <p:nvPr/>
        </p:nvSpPr>
        <p:spPr>
          <a:xfrm>
            <a:off x="2578100" y="5511800"/>
            <a:ext cx="68580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Functional entities</a:t>
            </a:r>
            <a:endParaRPr/>
          </a:p>
        </p:txBody>
      </p:sp>
      <p:sp>
        <p:nvSpPr>
          <p:cNvPr id="423" name="Google Shape;423;p10"/>
          <p:cNvSpPr txBox="1"/>
          <p:nvPr/>
        </p:nvSpPr>
        <p:spPr>
          <a:xfrm>
            <a:off x="2578100" y="5778500"/>
            <a:ext cx="6858000" cy="2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150 DMOs · cultural foundations · 20 regional labour agencies · IOM, UN.</a:t>
            </a:r>
            <a:endParaRPr/>
          </a:p>
        </p:txBody>
      </p:sp>
      <p:sp>
        <p:nvSpPr>
          <p:cNvPr id="424" name="Google Shape;424;p10"/>
          <p:cNvSpPr txBox="1"/>
          <p:nvPr/>
        </p:nvSpPr>
        <p:spPr>
          <a:xfrm>
            <a:off x="2578100" y="5994400"/>
            <a:ext cx="68580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DRIVER  </a:t>
            </a:r>
            <a:r>
              <a:rPr lang="en-US" sz="10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Overtourism · 1.3M skill mismatch · PNRR M1 · EU Talent Pool (2027)</a:t>
            </a:r>
            <a:endParaRPr/>
          </a:p>
        </p:txBody>
      </p:sp>
      <p:sp>
        <p:nvSpPr>
          <p:cNvPr id="425" name="Google Shape;425;p10"/>
          <p:cNvSpPr txBox="1"/>
          <p:nvPr/>
        </p:nvSpPr>
        <p:spPr>
          <a:xfrm>
            <a:off x="9144000" y="55626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D166"/>
                </a:solidFill>
                <a:latin typeface="Inter Light"/>
                <a:ea typeface="Inter Light"/>
                <a:cs typeface="Inter Light"/>
                <a:sym typeface="Inter Light"/>
              </a:rPr>
              <a:t>€30–50k</a:t>
            </a:r>
            <a:endParaRPr/>
          </a:p>
        </p:txBody>
      </p:sp>
      <p:sp>
        <p:nvSpPr>
          <p:cNvPr id="426" name="Google Shape;426;p10"/>
          <p:cNvSpPr txBox="1"/>
          <p:nvPr/>
        </p:nvSpPr>
        <p:spPr>
          <a:xfrm>
            <a:off x="9144000" y="5892800"/>
            <a:ext cx="24892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AVG ACV</a:t>
            </a: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800100" y="61976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 txBox="1"/>
          <p:nvPr/>
        </p:nvSpPr>
        <p:spPr>
          <a:xfrm>
            <a:off x="546100" y="6350000"/>
            <a:ext cx="110871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METHODOLOGY  </a:t>
            </a:r>
            <a:r>
              <a:rPr lang="en-US" sz="8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TAM median 4 top-down sources (EU, CAGR 11–13%). SAM bottom-up Italy: 141 PA × €50k + 200 corp × €100k + 250 functional × €40k × 2–3× maturity. SOM 5–10% SAM · 3Y (PA + corp wedge).</a:t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4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11" descr="Immagine che contiene Arte frattale, Policromia, violetto, luce&#10;&#10;Il contenuto generato dall'IA potrebbe non essere corret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1"/>
          <p:cNvSpPr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1117">
                  <a:alpha val="85098"/>
                </a:srgbClr>
              </a:gs>
              <a:gs pos="50000">
                <a:srgbClr val="0D1117">
                  <a:alpha val="60000"/>
                </a:srgbClr>
              </a:gs>
              <a:gs pos="100000">
                <a:srgbClr val="0D1117">
                  <a:alpha val="1019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457200" y="2794000"/>
            <a:ext cx="11277600" cy="3175000"/>
          </a:xfrm>
          <a:prstGeom prst="rect">
            <a:avLst/>
          </a:prstGeom>
          <a:solidFill>
            <a:srgbClr val="0D1117">
              <a:alpha val="5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548640" y="9601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050"/>
              <a:buFont typeface="Inter Light"/>
              <a:buNone/>
            </a:pPr>
            <a:r>
              <a:rPr lang="en-US" sz="105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09   ·   POSITIONING</a:t>
            </a:r>
            <a:endParaRPr sz="10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548640" y="128016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Nobody owns the intersection of the three axes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548640" y="2084832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600"/>
              <a:buFont typeface="Inter Light"/>
              <a:buNone/>
            </a:pPr>
            <a:r>
              <a:rPr lang="en-US" sz="16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We create the category that doesn’t exist: sub-municipal space × prospective time × agentic AI.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548640" y="2926080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658368" y="2926080"/>
            <a:ext cx="229514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3063240" y="292608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3172968" y="2926080"/>
            <a:ext cx="19751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000"/>
              <a:buFont typeface="Inter Light"/>
              <a:buNone/>
            </a:pPr>
            <a:r>
              <a:rPr lang="en-US" sz="10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Category</a:t>
            </a: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5257800" y="292608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5367528" y="2926080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000"/>
              <a:buFont typeface="Inter Light"/>
              <a:buNone/>
            </a:pPr>
            <a:r>
              <a:rPr lang="en-US" sz="10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Sub-municipal space</a:t>
            </a: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6903720" y="2926080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7013448" y="2926080"/>
            <a:ext cx="13350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000"/>
              <a:buFont typeface="Inter Light"/>
              <a:buNone/>
            </a:pPr>
            <a:r>
              <a:rPr lang="en-US" sz="10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Prospective time</a:t>
            </a: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8458200" y="2926080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8567928" y="2926080"/>
            <a:ext cx="12893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000"/>
              <a:buFont typeface="Inter Light"/>
              <a:buNone/>
            </a:pPr>
            <a:r>
              <a:rPr lang="en-US" sz="10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Economics + AI</a:t>
            </a: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9966960" y="2926080"/>
            <a:ext cx="16733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10076688" y="2926080"/>
            <a:ext cx="145389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000"/>
              <a:buFont typeface="Inter Light"/>
              <a:buNone/>
            </a:pPr>
            <a:r>
              <a:rPr lang="en-US" sz="10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Format</a:t>
            </a: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548640" y="3310128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658368" y="3310128"/>
            <a:ext cx="229514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Inter Light"/>
              <a:buNone/>
            </a:pPr>
            <a:r>
              <a:rPr lang="en-US" sz="12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ESRI / ArcGIS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3063240" y="3310128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3172968" y="3310128"/>
            <a:ext cx="19751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 i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Enterprise GIS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5257800" y="331012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5367528" y="3310128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Yes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6903720" y="3310128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7013448" y="3310128"/>
            <a:ext cx="13350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8458200" y="3310128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8567928" y="3310128"/>
            <a:ext cx="12893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9966960" y="3310128"/>
            <a:ext cx="16733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10076688" y="3310128"/>
            <a:ext cx="145389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Software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548640" y="3694176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658368" y="3694176"/>
            <a:ext cx="229514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Inter Light"/>
              <a:buNone/>
            </a:pPr>
            <a:r>
              <a:rPr lang="en-US" sz="12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CARTO / Placer.ai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3063240" y="3694176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3172968" y="3694176"/>
            <a:ext cx="19751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 i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Location intelligence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5257800" y="3694176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5367528" y="3694176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Yes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6903720" y="3694176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7013448" y="3694176"/>
            <a:ext cx="13350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72" name="Google Shape;472;p11"/>
          <p:cNvSpPr/>
          <p:nvPr/>
        </p:nvSpPr>
        <p:spPr>
          <a:xfrm>
            <a:off x="8458200" y="3694176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8567928" y="3694176"/>
            <a:ext cx="12893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9966960" y="3694176"/>
            <a:ext cx="16733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10076688" y="3694176"/>
            <a:ext cx="145389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Cloud SaaS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548640" y="4078224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77" name="Google Shape;477;p11"/>
          <p:cNvSpPr/>
          <p:nvPr/>
        </p:nvSpPr>
        <p:spPr>
          <a:xfrm>
            <a:off x="658368" y="4078224"/>
            <a:ext cx="229514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Inter Light"/>
              <a:buNone/>
            </a:pPr>
            <a:r>
              <a:rPr lang="en-US" sz="12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Deloitte / McKinsey Foresight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3063240" y="4078224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3172968" y="4078224"/>
            <a:ext cx="19751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 i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Foresight consulting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5257800" y="4078224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81" name="Google Shape;481;p11"/>
          <p:cNvSpPr/>
          <p:nvPr/>
        </p:nvSpPr>
        <p:spPr>
          <a:xfrm>
            <a:off x="5367528" y="4078224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82" name="Google Shape;482;p11"/>
          <p:cNvSpPr/>
          <p:nvPr/>
        </p:nvSpPr>
        <p:spPr>
          <a:xfrm>
            <a:off x="6903720" y="4078224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83" name="Google Shape;483;p11"/>
          <p:cNvSpPr/>
          <p:nvPr/>
        </p:nvSpPr>
        <p:spPr>
          <a:xfrm>
            <a:off x="7013448" y="4078224"/>
            <a:ext cx="13350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Yes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84" name="Google Shape;484;p11"/>
          <p:cNvSpPr/>
          <p:nvPr/>
        </p:nvSpPr>
        <p:spPr>
          <a:xfrm>
            <a:off x="8458200" y="4078224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85" name="Google Shape;485;p11"/>
          <p:cNvSpPr/>
          <p:nvPr/>
        </p:nvSpPr>
        <p:spPr>
          <a:xfrm>
            <a:off x="8567928" y="4078224"/>
            <a:ext cx="12893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9966960" y="4078224"/>
            <a:ext cx="16733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10076688" y="4078224"/>
            <a:ext cx="145389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PDF reports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88" name="Google Shape;488;p11"/>
          <p:cNvSpPr/>
          <p:nvPr/>
        </p:nvSpPr>
        <p:spPr>
          <a:xfrm>
            <a:off x="548640" y="4462272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658368" y="4462272"/>
            <a:ext cx="229514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Inter Light"/>
              <a:buNone/>
            </a:pPr>
            <a:r>
              <a:rPr lang="en-US" sz="12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Oxford Economics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3063240" y="4462272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91" name="Google Shape;491;p11"/>
          <p:cNvSpPr/>
          <p:nvPr/>
        </p:nvSpPr>
        <p:spPr>
          <a:xfrm>
            <a:off x="3172968" y="4462272"/>
            <a:ext cx="19751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 i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Macro projections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92" name="Google Shape;492;p11"/>
          <p:cNvSpPr/>
          <p:nvPr/>
        </p:nvSpPr>
        <p:spPr>
          <a:xfrm>
            <a:off x="5257800" y="446227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93" name="Google Shape;493;p11"/>
          <p:cNvSpPr/>
          <p:nvPr/>
        </p:nvSpPr>
        <p:spPr>
          <a:xfrm>
            <a:off x="5367528" y="4462272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94" name="Google Shape;494;p11"/>
          <p:cNvSpPr/>
          <p:nvPr/>
        </p:nvSpPr>
        <p:spPr>
          <a:xfrm>
            <a:off x="6903720" y="4462272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95" name="Google Shape;495;p11"/>
          <p:cNvSpPr/>
          <p:nvPr/>
        </p:nvSpPr>
        <p:spPr>
          <a:xfrm>
            <a:off x="7013448" y="4462272"/>
            <a:ext cx="13350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Yes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8458200" y="4462272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97" name="Google Shape;497;p11"/>
          <p:cNvSpPr/>
          <p:nvPr/>
        </p:nvSpPr>
        <p:spPr>
          <a:xfrm>
            <a:off x="8567928" y="4462272"/>
            <a:ext cx="12893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98" name="Google Shape;498;p11"/>
          <p:cNvSpPr/>
          <p:nvPr/>
        </p:nvSpPr>
        <p:spPr>
          <a:xfrm>
            <a:off x="9966960" y="4462272"/>
            <a:ext cx="16733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10076688" y="4462272"/>
            <a:ext cx="145389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Dataset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00" name="Google Shape;500;p11"/>
          <p:cNvSpPr/>
          <p:nvPr/>
        </p:nvSpPr>
        <p:spPr>
          <a:xfrm>
            <a:off x="548640" y="4846320"/>
            <a:ext cx="2514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01" name="Google Shape;501;p11"/>
          <p:cNvSpPr/>
          <p:nvPr/>
        </p:nvSpPr>
        <p:spPr>
          <a:xfrm>
            <a:off x="658368" y="4846320"/>
            <a:ext cx="229514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Inter Light"/>
              <a:buNone/>
            </a:pPr>
            <a:r>
              <a:rPr lang="en-US" sz="12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AlphaGeo  (US)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3063240" y="484632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03" name="Google Shape;503;p11"/>
          <p:cNvSpPr/>
          <p:nvPr/>
        </p:nvSpPr>
        <p:spPr>
          <a:xfrm>
            <a:off x="3172968" y="4846320"/>
            <a:ext cx="19751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 i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Climate risk geo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04" name="Google Shape;504;p11"/>
          <p:cNvSpPr/>
          <p:nvPr/>
        </p:nvSpPr>
        <p:spPr>
          <a:xfrm>
            <a:off x="5257800" y="484632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05" name="Google Shape;505;p11"/>
          <p:cNvSpPr/>
          <p:nvPr/>
        </p:nvSpPr>
        <p:spPr>
          <a:xfrm>
            <a:off x="5367528" y="4846320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Yes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06" name="Google Shape;506;p11"/>
          <p:cNvSpPr/>
          <p:nvPr/>
        </p:nvSpPr>
        <p:spPr>
          <a:xfrm>
            <a:off x="6903720" y="4846320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07" name="Google Shape;507;p11"/>
          <p:cNvSpPr/>
          <p:nvPr/>
        </p:nvSpPr>
        <p:spPr>
          <a:xfrm>
            <a:off x="7013448" y="4846320"/>
            <a:ext cx="13350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D166"/>
                </a:solidFill>
                <a:latin typeface="Inter Light"/>
                <a:ea typeface="Inter Light"/>
                <a:cs typeface="Inter Light"/>
                <a:sym typeface="Inter Light"/>
              </a:rPr>
              <a:t>Partial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08" name="Google Shape;508;p11"/>
          <p:cNvSpPr/>
          <p:nvPr/>
        </p:nvSpPr>
        <p:spPr>
          <a:xfrm>
            <a:off x="8458200" y="4846320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09" name="Google Shape;509;p11"/>
          <p:cNvSpPr/>
          <p:nvPr/>
        </p:nvSpPr>
        <p:spPr>
          <a:xfrm>
            <a:off x="8567928" y="4846320"/>
            <a:ext cx="12893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5A6B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F5A6B"/>
                </a:solidFill>
                <a:latin typeface="Inter Light"/>
                <a:ea typeface="Inter Light"/>
                <a:cs typeface="Inter Light"/>
                <a:sym typeface="Inter Light"/>
              </a:rPr>
              <a:t>No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10" name="Google Shape;510;p11"/>
          <p:cNvSpPr/>
          <p:nvPr/>
        </p:nvSpPr>
        <p:spPr>
          <a:xfrm>
            <a:off x="9966960" y="4846320"/>
            <a:ext cx="167335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11" name="Google Shape;511;p11"/>
          <p:cNvSpPr/>
          <p:nvPr/>
        </p:nvSpPr>
        <p:spPr>
          <a:xfrm>
            <a:off x="10076688" y="4846320"/>
            <a:ext cx="145389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SaaS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12" name="Google Shape;512;p11"/>
          <p:cNvSpPr/>
          <p:nvPr/>
        </p:nvSpPr>
        <p:spPr>
          <a:xfrm>
            <a:off x="548640" y="5230368"/>
            <a:ext cx="2514600" cy="384048"/>
          </a:xfrm>
          <a:prstGeom prst="rect">
            <a:avLst/>
          </a:prstGeom>
          <a:solidFill>
            <a:srgbClr val="122A36"/>
          </a:solidFill>
          <a:ln w="9525" cap="flat" cmpd="sng">
            <a:solidFill>
              <a:srgbClr val="2A3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13" name="Google Shape;513;p11"/>
          <p:cNvSpPr/>
          <p:nvPr/>
        </p:nvSpPr>
        <p:spPr>
          <a:xfrm>
            <a:off x="658368" y="5230368"/>
            <a:ext cx="229514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200"/>
              <a:buFont typeface="Inter Light"/>
              <a:buNone/>
            </a:pPr>
            <a:r>
              <a:rPr lang="en-US" sz="12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Chorema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14" name="Google Shape;514;p11"/>
          <p:cNvSpPr/>
          <p:nvPr/>
        </p:nvSpPr>
        <p:spPr>
          <a:xfrm>
            <a:off x="3063240" y="5230368"/>
            <a:ext cx="2194560" cy="384048"/>
          </a:xfrm>
          <a:prstGeom prst="rect">
            <a:avLst/>
          </a:prstGeom>
          <a:solidFill>
            <a:srgbClr val="122A36"/>
          </a:solidFill>
          <a:ln w="9525" cap="flat" cmpd="sng">
            <a:solidFill>
              <a:srgbClr val="2A3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15" name="Google Shape;515;p11"/>
          <p:cNvSpPr/>
          <p:nvPr/>
        </p:nvSpPr>
        <p:spPr>
          <a:xfrm>
            <a:off x="3172968" y="5230368"/>
            <a:ext cx="19751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 b="1" i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Geospatial Futures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16" name="Google Shape;516;p11"/>
          <p:cNvSpPr/>
          <p:nvPr/>
        </p:nvSpPr>
        <p:spPr>
          <a:xfrm>
            <a:off x="5257800" y="5230368"/>
            <a:ext cx="1645920" cy="384048"/>
          </a:xfrm>
          <a:prstGeom prst="rect">
            <a:avLst/>
          </a:prstGeom>
          <a:solidFill>
            <a:srgbClr val="122A36"/>
          </a:solidFill>
          <a:ln w="9525" cap="flat" cmpd="sng">
            <a:solidFill>
              <a:srgbClr val="2A3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17" name="Google Shape;517;p11"/>
          <p:cNvSpPr/>
          <p:nvPr/>
        </p:nvSpPr>
        <p:spPr>
          <a:xfrm>
            <a:off x="5367528" y="5230368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Yes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18" name="Google Shape;518;p11"/>
          <p:cNvSpPr/>
          <p:nvPr/>
        </p:nvSpPr>
        <p:spPr>
          <a:xfrm>
            <a:off x="6903720" y="5230368"/>
            <a:ext cx="1554480" cy="384048"/>
          </a:xfrm>
          <a:prstGeom prst="rect">
            <a:avLst/>
          </a:prstGeom>
          <a:solidFill>
            <a:srgbClr val="122A36"/>
          </a:solidFill>
          <a:ln w="9525" cap="flat" cmpd="sng">
            <a:solidFill>
              <a:srgbClr val="2A3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19" name="Google Shape;519;p11"/>
          <p:cNvSpPr/>
          <p:nvPr/>
        </p:nvSpPr>
        <p:spPr>
          <a:xfrm>
            <a:off x="7013448" y="5230368"/>
            <a:ext cx="13350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Yes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20" name="Google Shape;520;p11"/>
          <p:cNvSpPr/>
          <p:nvPr/>
        </p:nvSpPr>
        <p:spPr>
          <a:xfrm>
            <a:off x="8458200" y="5230368"/>
            <a:ext cx="1508760" cy="384048"/>
          </a:xfrm>
          <a:prstGeom prst="rect">
            <a:avLst/>
          </a:prstGeom>
          <a:solidFill>
            <a:srgbClr val="122A36"/>
          </a:solidFill>
          <a:ln w="9525" cap="flat" cmpd="sng">
            <a:solidFill>
              <a:srgbClr val="2A3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21" name="Google Shape;521;p11"/>
          <p:cNvSpPr/>
          <p:nvPr/>
        </p:nvSpPr>
        <p:spPr>
          <a:xfrm>
            <a:off x="8567928" y="5230368"/>
            <a:ext cx="12893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Yes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22" name="Google Shape;522;p11"/>
          <p:cNvSpPr/>
          <p:nvPr/>
        </p:nvSpPr>
        <p:spPr>
          <a:xfrm>
            <a:off x="9966960" y="5230368"/>
            <a:ext cx="1673352" cy="384048"/>
          </a:xfrm>
          <a:prstGeom prst="rect">
            <a:avLst/>
          </a:prstGeom>
          <a:solidFill>
            <a:srgbClr val="122A36"/>
          </a:solidFill>
          <a:ln w="9525" cap="flat" cmpd="sng">
            <a:solidFill>
              <a:srgbClr val="2A3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23" name="Google Shape;523;p11"/>
          <p:cNvSpPr/>
          <p:nvPr/>
        </p:nvSpPr>
        <p:spPr>
          <a:xfrm>
            <a:off x="10076688" y="5230368"/>
            <a:ext cx="145389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KaaS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24" name="Google Shape;524;p11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25" name="Google Shape;525;p11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IZILab srl</a:t>
            </a:r>
            <a:r>
              <a:rPr lang="en-US" sz="900">
                <a:solidFill>
                  <a:srgbClr val="5F6C82"/>
                </a:solidFill>
                <a:latin typeface="Inter Light"/>
                <a:ea typeface="Inter Light"/>
                <a:cs typeface="Inter Light"/>
                <a:sym typeface="Inter Light"/>
              </a:rPr>
              <a:t>   ·   </a:t>
            </a: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Chorema  ·  Investor Deck  ·  April 2026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26" name="Google Shape;526;p11"/>
          <p:cNvSpPr/>
          <p:nvPr/>
        </p:nvSpPr>
        <p:spPr>
          <a:xfrm>
            <a:off x="10607040" y="6537960"/>
            <a:ext cx="10332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11 / 18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27" name="Google Shape;527;p11"/>
          <p:cNvSpPr/>
          <p:nvPr/>
        </p:nvSpPr>
        <p:spPr>
          <a:xfrm>
            <a:off x="546100" y="406400"/>
            <a:ext cx="927100" cy="292100"/>
          </a:xfrm>
          <a:custGeom>
            <a:avLst/>
            <a:gdLst/>
            <a:ahLst/>
            <a:cxnLst/>
            <a:rect l="l" t="t" r="r" b="b"/>
            <a:pathLst>
              <a:path w="1384665" h="446310" extrusionOk="0">
                <a:moveTo>
                  <a:pt x="0" y="0"/>
                </a:moveTo>
                <a:lnTo>
                  <a:pt x="1384665" y="0"/>
                </a:lnTo>
                <a:lnTo>
                  <a:pt x="1384665" y="446310"/>
                </a:lnTo>
                <a:lnTo>
                  <a:pt x="0" y="4463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1"/>
          <p:cNvSpPr/>
          <p:nvPr/>
        </p:nvSpPr>
        <p:spPr>
          <a:xfrm>
            <a:off x="546100" y="2921000"/>
            <a:ext cx="11087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1"/>
          <p:cNvSpPr/>
          <p:nvPr/>
        </p:nvSpPr>
        <p:spPr>
          <a:xfrm>
            <a:off x="546100" y="3314700"/>
            <a:ext cx="11087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1"/>
          <p:cNvSpPr/>
          <p:nvPr/>
        </p:nvSpPr>
        <p:spPr>
          <a:xfrm>
            <a:off x="546100" y="3695700"/>
            <a:ext cx="11087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1"/>
          <p:cNvSpPr/>
          <p:nvPr/>
        </p:nvSpPr>
        <p:spPr>
          <a:xfrm>
            <a:off x="546100" y="4076700"/>
            <a:ext cx="11087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1"/>
          <p:cNvSpPr/>
          <p:nvPr/>
        </p:nvSpPr>
        <p:spPr>
          <a:xfrm>
            <a:off x="546100" y="4457700"/>
            <a:ext cx="11087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1"/>
          <p:cNvSpPr/>
          <p:nvPr/>
        </p:nvSpPr>
        <p:spPr>
          <a:xfrm>
            <a:off x="546100" y="4851400"/>
            <a:ext cx="11087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1"/>
          <p:cNvSpPr/>
          <p:nvPr/>
        </p:nvSpPr>
        <p:spPr>
          <a:xfrm>
            <a:off x="546100" y="5232400"/>
            <a:ext cx="11087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1"/>
          <p:cNvSpPr/>
          <p:nvPr/>
        </p:nvSpPr>
        <p:spPr>
          <a:xfrm>
            <a:off x="546100" y="5613400"/>
            <a:ext cx="11087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1"/>
          <p:cNvSpPr/>
          <p:nvPr/>
        </p:nvSpPr>
        <p:spPr>
          <a:xfrm>
            <a:off x="546100" y="5867400"/>
            <a:ext cx="11087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4"/>
        </a:solidFill>
        <a:effectLst/>
      </p:bgPr>
    </p:bg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13" descr="Immagine che contiene Arte frattale, Policromia, violetto, luce&#10;&#10;Il contenuto generato dall'IA potrebbe non essere corret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3"/>
          <p:cNvSpPr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1117">
                  <a:alpha val="85098"/>
                </a:srgbClr>
              </a:gs>
              <a:gs pos="50000">
                <a:srgbClr val="0D1117">
                  <a:alpha val="60000"/>
                </a:srgbClr>
              </a:gs>
              <a:gs pos="100000">
                <a:srgbClr val="0D1117">
                  <a:alpha val="1019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457200" y="2768600"/>
            <a:ext cx="11277600" cy="3429000"/>
          </a:xfrm>
          <a:prstGeom prst="rect">
            <a:avLst/>
          </a:prstGeom>
          <a:solidFill>
            <a:srgbClr val="0D1117">
              <a:alpha val="5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3"/>
          <p:cNvSpPr/>
          <p:nvPr/>
        </p:nvSpPr>
        <p:spPr>
          <a:xfrm>
            <a:off x="548640" y="9601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050"/>
              <a:buFont typeface="Inter Light"/>
              <a:buNone/>
            </a:pPr>
            <a:r>
              <a:rPr lang="en-US" sz="105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13   ·   BUSINESS MODEL</a:t>
            </a:r>
            <a:endParaRPr sz="10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46" name="Google Shape;546;p13"/>
          <p:cNvSpPr/>
          <p:nvPr/>
        </p:nvSpPr>
        <p:spPr>
          <a:xfrm>
            <a:off x="548640" y="128016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Knowledge-as-a-Service + Research Partnership.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3"/>
          <p:cNvSpPr/>
          <p:nvPr/>
        </p:nvSpPr>
        <p:spPr>
          <a:xfrm>
            <a:off x="548640" y="2084832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600"/>
              <a:buFont typeface="Inter Light"/>
              <a:buNone/>
            </a:pPr>
            <a:r>
              <a:rPr lang="en-US" sz="16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Three reinforcing revenue streams: recurring license, partnerships, API marketplace.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48" name="Google Shape;548;p13"/>
          <p:cNvSpPr/>
          <p:nvPr/>
        </p:nvSpPr>
        <p:spPr>
          <a:xfrm>
            <a:off x="548640" y="6473952"/>
            <a:ext cx="11091672" cy="7315"/>
          </a:xfrm>
          <a:prstGeom prst="rect">
            <a:avLst/>
          </a:prstGeom>
          <a:solidFill>
            <a:srgbClr val="2A3454"/>
          </a:solidFill>
          <a:ln w="12700" cap="flat" cmpd="sng">
            <a:solidFill>
              <a:srgbClr val="2A3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49" name="Google Shape;549;p13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IZILab srl</a:t>
            </a:r>
            <a:r>
              <a:rPr lang="en-US" sz="900">
                <a:solidFill>
                  <a:srgbClr val="5F6C82"/>
                </a:solidFill>
                <a:latin typeface="Inter Light"/>
                <a:ea typeface="Inter Light"/>
                <a:cs typeface="Inter Light"/>
                <a:sym typeface="Inter Light"/>
              </a:rPr>
              <a:t>   ·   </a:t>
            </a: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Chorema  ·  Investor Deck  ·  April 2026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50" name="Google Shape;550;p13"/>
          <p:cNvSpPr/>
          <p:nvPr/>
        </p:nvSpPr>
        <p:spPr>
          <a:xfrm>
            <a:off x="10607040" y="6537960"/>
            <a:ext cx="10332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15 / 18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51" name="Google Shape;551;p13"/>
          <p:cNvSpPr/>
          <p:nvPr/>
        </p:nvSpPr>
        <p:spPr>
          <a:xfrm>
            <a:off x="546100" y="406400"/>
            <a:ext cx="927100" cy="292100"/>
          </a:xfrm>
          <a:custGeom>
            <a:avLst/>
            <a:gdLst/>
            <a:ahLst/>
            <a:cxnLst/>
            <a:rect l="l" t="t" r="r" b="b"/>
            <a:pathLst>
              <a:path w="1384665" h="446310" extrusionOk="0">
                <a:moveTo>
                  <a:pt x="0" y="0"/>
                </a:moveTo>
                <a:lnTo>
                  <a:pt x="1384665" y="0"/>
                </a:lnTo>
                <a:lnTo>
                  <a:pt x="1384665" y="446310"/>
                </a:lnTo>
                <a:lnTo>
                  <a:pt x="0" y="4463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3"/>
          <p:cNvSpPr/>
          <p:nvPr/>
        </p:nvSpPr>
        <p:spPr>
          <a:xfrm>
            <a:off x="546100" y="2895600"/>
            <a:ext cx="50800" cy="9652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3"/>
          <p:cNvSpPr/>
          <p:nvPr/>
        </p:nvSpPr>
        <p:spPr>
          <a:xfrm>
            <a:off x="800100" y="28956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3"/>
          <p:cNvSpPr txBox="1"/>
          <p:nvPr/>
        </p:nvSpPr>
        <p:spPr>
          <a:xfrm>
            <a:off x="774700" y="2997200"/>
            <a:ext cx="1143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3EE8D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555" name="Google Shape;555;p13"/>
          <p:cNvSpPr txBox="1"/>
          <p:nvPr/>
        </p:nvSpPr>
        <p:spPr>
          <a:xfrm>
            <a:off x="2070100" y="29972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Knowledge-as-a-Service</a:t>
            </a:r>
            <a:endParaRPr/>
          </a:p>
        </p:txBody>
      </p:sp>
      <p:sp>
        <p:nvSpPr>
          <p:cNvPr id="556" name="Google Shape;556;p13"/>
          <p:cNvSpPr txBox="1"/>
          <p:nvPr/>
        </p:nvSpPr>
        <p:spPr>
          <a:xfrm>
            <a:off x="2070100" y="3352800"/>
            <a:ext cx="584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Annual license on the knowledge infrastructure: platform, agents, Data Lake, curated indices, continuous updates. Tiered Basic / Standard / Premium / Enterprise.</a:t>
            </a:r>
            <a:endParaRPr/>
          </a:p>
        </p:txBody>
      </p:sp>
      <p:sp>
        <p:nvSpPr>
          <p:cNvPr id="557" name="Google Shape;557;p13"/>
          <p:cNvSpPr txBox="1"/>
          <p:nvPr/>
        </p:nvSpPr>
        <p:spPr>
          <a:xfrm>
            <a:off x="7747000" y="3022600"/>
            <a:ext cx="3898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€20–30k</a:t>
            </a:r>
            <a:endParaRPr/>
          </a:p>
        </p:txBody>
      </p:sp>
      <p:sp>
        <p:nvSpPr>
          <p:cNvPr id="558" name="Google Shape;558;p13"/>
          <p:cNvSpPr txBox="1"/>
          <p:nvPr/>
        </p:nvSpPr>
        <p:spPr>
          <a:xfrm>
            <a:off x="7747000" y="3327400"/>
            <a:ext cx="3898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ENTRY</a:t>
            </a:r>
            <a:endParaRPr/>
          </a:p>
        </p:txBody>
      </p:sp>
      <p:sp>
        <p:nvSpPr>
          <p:cNvPr id="559" name="Google Shape;559;p13"/>
          <p:cNvSpPr txBox="1"/>
          <p:nvPr/>
        </p:nvSpPr>
        <p:spPr>
          <a:xfrm>
            <a:off x="7747000" y="3530600"/>
            <a:ext cx="38989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€40–120k </a:t>
            </a:r>
            <a:r>
              <a:rPr lang="en-US" sz="11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EXPANSION</a:t>
            </a:r>
            <a:endParaRPr/>
          </a:p>
        </p:txBody>
      </p:sp>
      <p:sp>
        <p:nvSpPr>
          <p:cNvPr id="560" name="Google Shape;560;p13"/>
          <p:cNvSpPr/>
          <p:nvPr/>
        </p:nvSpPr>
        <p:spPr>
          <a:xfrm>
            <a:off x="546100" y="4013200"/>
            <a:ext cx="50800" cy="965200"/>
          </a:xfrm>
          <a:prstGeom prst="rect">
            <a:avLst/>
          </a:prstGeom>
          <a:solidFill>
            <a:srgbClr val="B24D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3"/>
          <p:cNvSpPr/>
          <p:nvPr/>
        </p:nvSpPr>
        <p:spPr>
          <a:xfrm>
            <a:off x="800100" y="40132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3"/>
          <p:cNvSpPr txBox="1"/>
          <p:nvPr/>
        </p:nvSpPr>
        <p:spPr>
          <a:xfrm>
            <a:off x="774700" y="4114800"/>
            <a:ext cx="1143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B24D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563" name="Google Shape;563;p13"/>
          <p:cNvSpPr txBox="1"/>
          <p:nvPr/>
        </p:nvSpPr>
        <p:spPr>
          <a:xfrm>
            <a:off x="2070100" y="41148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Research Partnership</a:t>
            </a:r>
            <a:endParaRPr/>
          </a:p>
        </p:txBody>
      </p:sp>
      <p:sp>
        <p:nvSpPr>
          <p:cNvPr id="564" name="Google Shape;564;p13"/>
          <p:cNvSpPr txBox="1"/>
          <p:nvPr/>
        </p:nvSpPr>
        <p:spPr>
          <a:xfrm>
            <a:off x="2070100" y="4470400"/>
            <a:ext cx="584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Co-design of sector-specific indices with academic validation (Aalborg, PoliMi, LUM, Padova). Applied research with public and private organizations.</a:t>
            </a:r>
            <a:endParaRPr/>
          </a:p>
        </p:txBody>
      </p:sp>
      <p:sp>
        <p:nvSpPr>
          <p:cNvPr id="565" name="Google Shape;565;p13"/>
          <p:cNvSpPr txBox="1"/>
          <p:nvPr/>
        </p:nvSpPr>
        <p:spPr>
          <a:xfrm>
            <a:off x="7747000" y="4140200"/>
            <a:ext cx="3898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24DFF"/>
                </a:solidFill>
                <a:latin typeface="Inter Light"/>
                <a:ea typeface="Inter Light"/>
                <a:cs typeface="Inter Light"/>
                <a:sym typeface="Inter Light"/>
              </a:rPr>
              <a:t>€30–80k</a:t>
            </a:r>
            <a:endParaRPr/>
          </a:p>
        </p:txBody>
      </p:sp>
      <p:sp>
        <p:nvSpPr>
          <p:cNvPr id="566" name="Google Shape;566;p13"/>
          <p:cNvSpPr txBox="1"/>
          <p:nvPr/>
        </p:nvSpPr>
        <p:spPr>
          <a:xfrm>
            <a:off x="7747000" y="4445000"/>
            <a:ext cx="3898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PER PROJECT</a:t>
            </a:r>
            <a:endParaRPr/>
          </a:p>
        </p:txBody>
      </p:sp>
      <p:sp>
        <p:nvSpPr>
          <p:cNvPr id="567" name="Google Shape;567;p13"/>
          <p:cNvSpPr txBox="1"/>
          <p:nvPr/>
        </p:nvSpPr>
        <p:spPr>
          <a:xfrm>
            <a:off x="7747000" y="4648200"/>
            <a:ext cx="38989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rev share </a:t>
            </a:r>
            <a:r>
              <a:rPr lang="en-US" sz="11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ON INDICES</a:t>
            </a:r>
            <a:endParaRPr/>
          </a:p>
        </p:txBody>
      </p:sp>
      <p:sp>
        <p:nvSpPr>
          <p:cNvPr id="568" name="Google Shape;568;p13"/>
          <p:cNvSpPr/>
          <p:nvPr/>
        </p:nvSpPr>
        <p:spPr>
          <a:xfrm>
            <a:off x="546100" y="5130800"/>
            <a:ext cx="50800" cy="9652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3"/>
          <p:cNvSpPr/>
          <p:nvPr/>
        </p:nvSpPr>
        <p:spPr>
          <a:xfrm>
            <a:off x="800100" y="51308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3"/>
          <p:cNvSpPr txBox="1"/>
          <p:nvPr/>
        </p:nvSpPr>
        <p:spPr>
          <a:xfrm>
            <a:off x="774700" y="5232400"/>
            <a:ext cx="1143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571" name="Google Shape;571;p13"/>
          <p:cNvSpPr txBox="1"/>
          <p:nvPr/>
        </p:nvSpPr>
        <p:spPr>
          <a:xfrm>
            <a:off x="2070100" y="52324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API Marketplace</a:t>
            </a:r>
            <a:endParaRPr/>
          </a:p>
        </p:txBody>
      </p:sp>
      <p:sp>
        <p:nvSpPr>
          <p:cNvPr id="572" name="Google Shape;572;p13"/>
          <p:cNvSpPr txBox="1"/>
          <p:nvPr/>
        </p:nvSpPr>
        <p:spPr>
          <a:xfrm>
            <a:off x="2070100" y="5588000"/>
            <a:ext cx="584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Metered API calls for programmatic access to curated indices and datasets. The “Netflix of territorial big data” for developers and integrators. H1 2027 roadmap.</a:t>
            </a:r>
            <a:endParaRPr/>
          </a:p>
        </p:txBody>
      </p:sp>
      <p:sp>
        <p:nvSpPr>
          <p:cNvPr id="573" name="Google Shape;573;p13"/>
          <p:cNvSpPr txBox="1"/>
          <p:nvPr/>
        </p:nvSpPr>
        <p:spPr>
          <a:xfrm>
            <a:off x="7747000" y="5257800"/>
            <a:ext cx="3898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D166"/>
                </a:solidFill>
                <a:latin typeface="Inter Light"/>
                <a:ea typeface="Inter Light"/>
                <a:cs typeface="Inter Light"/>
                <a:sym typeface="Inter Light"/>
              </a:rPr>
              <a:t>Pay-per-use</a:t>
            </a:r>
            <a:endParaRPr/>
          </a:p>
        </p:txBody>
      </p:sp>
      <p:sp>
        <p:nvSpPr>
          <p:cNvPr id="574" name="Google Shape;574;p13"/>
          <p:cNvSpPr txBox="1"/>
          <p:nvPr/>
        </p:nvSpPr>
        <p:spPr>
          <a:xfrm>
            <a:off x="7747000" y="5562600"/>
            <a:ext cx="38989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METERED</a:t>
            </a:r>
            <a:endParaRPr/>
          </a:p>
        </p:txBody>
      </p:sp>
      <p:sp>
        <p:nvSpPr>
          <p:cNvPr id="575" name="Google Shape;575;p13"/>
          <p:cNvSpPr txBox="1"/>
          <p:nvPr/>
        </p:nvSpPr>
        <p:spPr>
          <a:xfrm>
            <a:off x="7747000" y="5765800"/>
            <a:ext cx="38989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rev share </a:t>
            </a:r>
            <a:r>
              <a:rPr lang="en-US" sz="11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ON PARTNERS</a:t>
            </a:r>
            <a:endParaRPr/>
          </a:p>
        </p:txBody>
      </p:sp>
      <p:sp>
        <p:nvSpPr>
          <p:cNvPr id="576" name="Google Shape;576;p13"/>
          <p:cNvSpPr/>
          <p:nvPr/>
        </p:nvSpPr>
        <p:spPr>
          <a:xfrm>
            <a:off x="800100" y="60960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3"/>
          <p:cNvSpPr/>
          <p:nvPr/>
        </p:nvSpPr>
        <p:spPr>
          <a:xfrm>
            <a:off x="822960" y="6199632"/>
            <a:ext cx="109728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000"/>
              <a:buFont typeface="Inter Light"/>
              <a:buNone/>
            </a:pPr>
            <a:r>
              <a:rPr lang="en-US" sz="10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UNIT ECONOMICS   </a:t>
            </a:r>
            <a:r>
              <a:rPr lang="en-US" sz="11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KaaS gross margin  </a:t>
            </a:r>
            <a:r>
              <a:rPr lang="en-US" sz="11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~75%</a:t>
            </a:r>
            <a:r>
              <a:rPr lang="en-US" sz="11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    ·    Target NRR  </a:t>
            </a:r>
            <a:r>
              <a:rPr lang="en-US" sz="11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&gt;120%</a:t>
            </a:r>
            <a:r>
              <a:rPr lang="en-US" sz="11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    ·    CAC payback  </a:t>
            </a:r>
            <a:r>
              <a:rPr lang="en-US" sz="11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12–18 months</a:t>
            </a:r>
            <a:r>
              <a:rPr lang="en-US" sz="11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    ·    Multi-year PA contracts  </a:t>
            </a:r>
            <a:r>
              <a:rPr lang="en-US" sz="11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avg 3Y</a:t>
            </a: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4"/>
        </a:solid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14" descr="Immagine che contiene Arte frattale, Policromia, violetto, luce&#10;&#10;Il contenuto generato dall'IA potrebbe non essere corret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14"/>
          <p:cNvSpPr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1117">
                  <a:alpha val="85098"/>
                </a:srgbClr>
              </a:gs>
              <a:gs pos="50000">
                <a:srgbClr val="0D1117">
                  <a:alpha val="60000"/>
                </a:srgbClr>
              </a:gs>
              <a:gs pos="100000">
                <a:srgbClr val="0D1117">
                  <a:alpha val="1019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4"/>
          <p:cNvSpPr/>
          <p:nvPr/>
        </p:nvSpPr>
        <p:spPr>
          <a:xfrm>
            <a:off x="457200" y="2514600"/>
            <a:ext cx="11277600" cy="3733800"/>
          </a:xfrm>
          <a:prstGeom prst="rect">
            <a:avLst/>
          </a:prstGeom>
          <a:solidFill>
            <a:srgbClr val="0D1117">
              <a:alpha val="5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4"/>
          <p:cNvSpPr/>
          <p:nvPr/>
        </p:nvSpPr>
        <p:spPr>
          <a:xfrm>
            <a:off x="548640" y="9601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050"/>
              <a:buFont typeface="Inter Light"/>
              <a:buNone/>
            </a:pPr>
            <a:r>
              <a:rPr lang="en-US" sz="105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15   ·   TEAM</a:t>
            </a:r>
            <a:endParaRPr sz="10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87" name="Google Shape;587;p14"/>
          <p:cNvSpPr/>
          <p:nvPr/>
        </p:nvSpPr>
        <p:spPr>
          <a:xfrm>
            <a:off x="548640" y="128016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400"/>
              <a:buFont typeface="Arial"/>
              <a:buNone/>
            </a:pPr>
            <a:r>
              <a:rPr lang="en-US" sz="30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Frontier research </a:t>
            </a:r>
            <a:r>
              <a:rPr lang="en-US" sz="3000" b="1">
                <a:solidFill>
                  <a:srgbClr val="F0F4F8"/>
                </a:solidFill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+ consolidated entrepreneurial experience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4"/>
          <p:cNvSpPr/>
          <p:nvPr/>
        </p:nvSpPr>
        <p:spPr>
          <a:xfrm>
            <a:off x="548640" y="6473952"/>
            <a:ext cx="11091672" cy="7315"/>
          </a:xfrm>
          <a:prstGeom prst="rect">
            <a:avLst/>
          </a:prstGeom>
          <a:solidFill>
            <a:srgbClr val="2A3454"/>
          </a:solidFill>
          <a:ln w="12700" cap="flat" cmpd="sng">
            <a:solidFill>
              <a:srgbClr val="2A34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89" name="Google Shape;589;p14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IZILab srl</a:t>
            </a:r>
            <a:r>
              <a:rPr lang="en-US" sz="900">
                <a:solidFill>
                  <a:srgbClr val="5F6C82"/>
                </a:solidFill>
                <a:latin typeface="Inter Light"/>
                <a:ea typeface="Inter Light"/>
                <a:cs typeface="Inter Light"/>
                <a:sym typeface="Inter Light"/>
              </a:rPr>
              <a:t>   ·   </a:t>
            </a: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Chorema  ·  Investor Deck  ·  April 2026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90" name="Google Shape;590;p14"/>
          <p:cNvSpPr/>
          <p:nvPr/>
        </p:nvSpPr>
        <p:spPr>
          <a:xfrm>
            <a:off x="10607040" y="6537960"/>
            <a:ext cx="10332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17 / 18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591" name="Google Shape;591;p14"/>
          <p:cNvSpPr/>
          <p:nvPr/>
        </p:nvSpPr>
        <p:spPr>
          <a:xfrm>
            <a:off x="546100" y="406400"/>
            <a:ext cx="927100" cy="292100"/>
          </a:xfrm>
          <a:custGeom>
            <a:avLst/>
            <a:gdLst/>
            <a:ahLst/>
            <a:cxnLst/>
            <a:rect l="l" t="t" r="r" b="b"/>
            <a:pathLst>
              <a:path w="1384665" h="446310" extrusionOk="0">
                <a:moveTo>
                  <a:pt x="0" y="0"/>
                </a:moveTo>
                <a:lnTo>
                  <a:pt x="1384665" y="0"/>
                </a:lnTo>
                <a:lnTo>
                  <a:pt x="1384665" y="446310"/>
                </a:lnTo>
                <a:lnTo>
                  <a:pt x="0" y="4463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4"/>
          <p:cNvSpPr/>
          <p:nvPr/>
        </p:nvSpPr>
        <p:spPr>
          <a:xfrm>
            <a:off x="546100" y="2616200"/>
            <a:ext cx="50800" cy="7874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4"/>
          <p:cNvSpPr/>
          <p:nvPr/>
        </p:nvSpPr>
        <p:spPr>
          <a:xfrm>
            <a:off x="800100" y="26162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4"/>
          <p:cNvSpPr/>
          <p:nvPr/>
        </p:nvSpPr>
        <p:spPr>
          <a:xfrm>
            <a:off x="774700" y="2705100"/>
            <a:ext cx="609600" cy="609600"/>
          </a:xfrm>
          <a:prstGeom prst="ellipse">
            <a:avLst/>
          </a:prstGeom>
          <a:noFill/>
          <a:ln w="12700" cap="flat" cmpd="sng">
            <a:solidFill>
              <a:srgbClr val="3EE8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EE8D6"/>
                </a:solidFill>
                <a:latin typeface="Arial"/>
                <a:ea typeface="Arial"/>
                <a:cs typeface="Arial"/>
                <a:sym typeface="Arial"/>
              </a:rPr>
              <a:t>MB</a:t>
            </a:r>
            <a:endParaRPr/>
          </a:p>
        </p:txBody>
      </p:sp>
      <p:sp>
        <p:nvSpPr>
          <p:cNvPr id="595" name="Google Shape;595;p14"/>
          <p:cNvSpPr txBox="1"/>
          <p:nvPr/>
        </p:nvSpPr>
        <p:spPr>
          <a:xfrm>
            <a:off x="1562100" y="27432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Martino Bellincampi</a:t>
            </a:r>
            <a:endParaRPr/>
          </a:p>
        </p:txBody>
      </p:sp>
      <p:sp>
        <p:nvSpPr>
          <p:cNvPr id="596" name="Google Shape;596;p14"/>
          <p:cNvSpPr txBox="1"/>
          <p:nvPr/>
        </p:nvSpPr>
        <p:spPr>
          <a:xfrm>
            <a:off x="1562100" y="3073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CEO · CO-FOUNDER</a:t>
            </a:r>
            <a:endParaRPr/>
          </a:p>
        </p:txBody>
      </p:sp>
      <p:sp>
        <p:nvSpPr>
          <p:cNvPr id="597" name="Google Shape;597;p14"/>
          <p:cNvSpPr txBox="1"/>
          <p:nvPr/>
        </p:nvSpPr>
        <p:spPr>
          <a:xfrm>
            <a:off x="4191000" y="2743200"/>
            <a:ext cx="74295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20+ years founder and strategic advisor. Independent Expert, EU Commission (Horizon Europe). Co-author of the book </a:t>
            </a:r>
            <a:r>
              <a:rPr lang="en-US" sz="1100" i="1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Futures Thinking </a:t>
            </a:r>
            <a:r>
              <a:rPr lang="en-US" sz="11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(Routledge, 2026).</a:t>
            </a:r>
            <a:endParaRPr/>
          </a:p>
        </p:txBody>
      </p:sp>
      <p:sp>
        <p:nvSpPr>
          <p:cNvPr id="598" name="Google Shape;598;p14"/>
          <p:cNvSpPr/>
          <p:nvPr/>
        </p:nvSpPr>
        <p:spPr>
          <a:xfrm>
            <a:off x="546100" y="3479800"/>
            <a:ext cx="50800" cy="787400"/>
          </a:xfrm>
          <a:prstGeom prst="rect">
            <a:avLst/>
          </a:prstGeom>
          <a:solidFill>
            <a:srgbClr val="B24D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4"/>
          <p:cNvSpPr/>
          <p:nvPr/>
        </p:nvSpPr>
        <p:spPr>
          <a:xfrm>
            <a:off x="800100" y="34798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4"/>
          <p:cNvSpPr/>
          <p:nvPr/>
        </p:nvSpPr>
        <p:spPr>
          <a:xfrm>
            <a:off x="774700" y="3568700"/>
            <a:ext cx="609600" cy="609600"/>
          </a:xfrm>
          <a:prstGeom prst="ellipse">
            <a:avLst/>
          </a:prstGeom>
          <a:noFill/>
          <a:ln w="12700" cap="flat" cmpd="sng">
            <a:solidFill>
              <a:srgbClr val="B2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B24DFF"/>
                </a:solidFill>
                <a:latin typeface="Arial"/>
                <a:ea typeface="Arial"/>
                <a:cs typeface="Arial"/>
                <a:sym typeface="Arial"/>
              </a:rPr>
              <a:t>LS</a:t>
            </a:r>
            <a:endParaRPr/>
          </a:p>
        </p:txBody>
      </p:sp>
      <p:sp>
        <p:nvSpPr>
          <p:cNvPr id="601" name="Google Shape;601;p14"/>
          <p:cNvSpPr txBox="1"/>
          <p:nvPr/>
        </p:nvSpPr>
        <p:spPr>
          <a:xfrm>
            <a:off x="1562100" y="36068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Luca Simeone</a:t>
            </a:r>
            <a:endParaRPr/>
          </a:p>
        </p:txBody>
      </p:sp>
      <p:sp>
        <p:nvSpPr>
          <p:cNvPr id="602" name="Google Shape;602;p14"/>
          <p:cNvSpPr txBox="1"/>
          <p:nvPr/>
        </p:nvSpPr>
        <p:spPr>
          <a:xfrm>
            <a:off x="1562100" y="39370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B24DFF"/>
                </a:solidFill>
                <a:latin typeface="Inter Light"/>
                <a:ea typeface="Inter Light"/>
                <a:cs typeface="Inter Light"/>
                <a:sym typeface="Inter Light"/>
              </a:rPr>
              <a:t>CSO · CO-FOUNDER</a:t>
            </a:r>
            <a:endParaRPr/>
          </a:p>
        </p:txBody>
      </p:sp>
      <p:sp>
        <p:nvSpPr>
          <p:cNvPr id="603" name="Google Shape;603;p14"/>
          <p:cNvSpPr txBox="1"/>
          <p:nvPr/>
        </p:nvSpPr>
        <p:spPr>
          <a:xfrm>
            <a:off x="4191000" y="3606800"/>
            <a:ext cx="74295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Serial entrepreneur and Associate Professor, Aalborg University. Visiting researcher at Harvard, MIT, Stanford. Co-author of 8 books and 100+ scientific publications</a:t>
            </a:r>
            <a:endParaRPr/>
          </a:p>
        </p:txBody>
      </p:sp>
      <p:sp>
        <p:nvSpPr>
          <p:cNvPr id="604" name="Google Shape;604;p14"/>
          <p:cNvSpPr/>
          <p:nvPr/>
        </p:nvSpPr>
        <p:spPr>
          <a:xfrm>
            <a:off x="546100" y="4343400"/>
            <a:ext cx="50800" cy="7874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4"/>
          <p:cNvSpPr/>
          <p:nvPr/>
        </p:nvSpPr>
        <p:spPr>
          <a:xfrm>
            <a:off x="800100" y="43434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4"/>
          <p:cNvSpPr/>
          <p:nvPr/>
        </p:nvSpPr>
        <p:spPr>
          <a:xfrm>
            <a:off x="774700" y="4432300"/>
            <a:ext cx="609600" cy="609600"/>
          </a:xfrm>
          <a:prstGeom prst="ellipse">
            <a:avLst/>
          </a:prstGeom>
          <a:noFill/>
          <a:ln w="12700" cap="flat" cmpd="sng">
            <a:solidFill>
              <a:srgbClr val="FFD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rPr>
              <a:t>PA</a:t>
            </a:r>
            <a:endParaRPr/>
          </a:p>
        </p:txBody>
      </p:sp>
      <p:sp>
        <p:nvSpPr>
          <p:cNvPr id="607" name="Google Shape;607;p14"/>
          <p:cNvSpPr txBox="1"/>
          <p:nvPr/>
        </p:nvSpPr>
        <p:spPr>
          <a:xfrm>
            <a:off x="1562100" y="44704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Paola Amendola</a:t>
            </a:r>
            <a:endParaRPr/>
          </a:p>
        </p:txBody>
      </p:sp>
      <p:sp>
        <p:nvSpPr>
          <p:cNvPr id="608" name="Google Shape;608;p14"/>
          <p:cNvSpPr txBox="1"/>
          <p:nvPr/>
        </p:nvSpPr>
        <p:spPr>
          <a:xfrm>
            <a:off x="1562100" y="48006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FFD166"/>
                </a:solidFill>
                <a:latin typeface="Inter Light"/>
                <a:ea typeface="Inter Light"/>
                <a:cs typeface="Inter Light"/>
                <a:sym typeface="Inter Light"/>
              </a:rPr>
              <a:t>CMO</a:t>
            </a:r>
            <a:endParaRPr/>
          </a:p>
        </p:txBody>
      </p:sp>
      <p:sp>
        <p:nvSpPr>
          <p:cNvPr id="609" name="Google Shape;609;p14"/>
          <p:cNvSpPr txBox="1"/>
          <p:nvPr/>
        </p:nvSpPr>
        <p:spPr>
          <a:xfrm>
            <a:off x="4191000" y="4470400"/>
            <a:ext cx="74295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8C5D1"/>
                </a:solidFill>
                <a:latin typeface="Inter Light"/>
                <a:ea typeface="Inter Light"/>
                <a:cs typeface="Inter Light"/>
                <a:sym typeface="Inter Light"/>
              </a:rPr>
              <a:t>Leads marketing, institutional partnerships, and business development. Co-author of Costruire il futuro (2026). Coordinates the international futures-intelligence cluster.</a:t>
            </a:r>
            <a:endParaRPr/>
          </a:p>
        </p:txBody>
      </p:sp>
      <p:sp>
        <p:nvSpPr>
          <p:cNvPr id="610" name="Google Shape;610;p14"/>
          <p:cNvSpPr/>
          <p:nvPr/>
        </p:nvSpPr>
        <p:spPr>
          <a:xfrm>
            <a:off x="800100" y="5130800"/>
            <a:ext cx="10833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4"/>
          <p:cNvSpPr txBox="1"/>
          <p:nvPr/>
        </p:nvSpPr>
        <p:spPr>
          <a:xfrm>
            <a:off x="546100" y="5257800"/>
            <a:ext cx="110871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EXTENDED TEAM  ·  14 PEOPLE</a:t>
            </a:r>
            <a:endParaRPr/>
          </a:p>
        </p:txBody>
      </p:sp>
      <p:sp>
        <p:nvSpPr>
          <p:cNvPr id="612" name="Google Shape;612;p14"/>
          <p:cNvSpPr txBox="1"/>
          <p:nvPr/>
        </p:nvSpPr>
        <p:spPr>
          <a:xfrm>
            <a:off x="546100" y="5511800"/>
            <a:ext cx="269557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Andrea Modica Bosinco</a:t>
            </a:r>
            <a:endParaRPr/>
          </a:p>
          <a:p>
            <a:pPr marL="0" marR="0" lvl="0" indent="0" algn="l" rtl="0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Chairman · Partner IZI spa</a:t>
            </a:r>
            <a:endParaRPr/>
          </a:p>
        </p:txBody>
      </p:sp>
      <p:sp>
        <p:nvSpPr>
          <p:cNvPr id="613" name="Google Shape;613;p14"/>
          <p:cNvSpPr txBox="1"/>
          <p:nvPr/>
        </p:nvSpPr>
        <p:spPr>
          <a:xfrm>
            <a:off x="3317875" y="5511800"/>
            <a:ext cx="269557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Giordano Onorati</a:t>
            </a:r>
            <a:endParaRPr/>
          </a:p>
          <a:p>
            <a:pPr marL="0" marR="0" lvl="0" indent="0" algn="l" rtl="0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Geo-Data Scientist · H3 / ML</a:t>
            </a:r>
            <a:endParaRPr/>
          </a:p>
        </p:txBody>
      </p:sp>
      <p:sp>
        <p:nvSpPr>
          <p:cNvPr id="614" name="Google Shape;614;p14"/>
          <p:cNvSpPr txBox="1"/>
          <p:nvPr/>
        </p:nvSpPr>
        <p:spPr>
          <a:xfrm>
            <a:off x="6089650" y="5511800"/>
            <a:ext cx="269557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Federico Peliti</a:t>
            </a:r>
            <a:endParaRPr/>
          </a:p>
          <a:p>
            <a:pPr marL="0" marR="0" lvl="0" indent="0" algn="l" rtl="0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Service Interaction Designer / UX</a:t>
            </a:r>
            <a:endParaRPr/>
          </a:p>
        </p:txBody>
      </p:sp>
      <p:sp>
        <p:nvSpPr>
          <p:cNvPr id="615" name="Google Shape;615;p14"/>
          <p:cNvSpPr txBox="1"/>
          <p:nvPr/>
        </p:nvSpPr>
        <p:spPr>
          <a:xfrm>
            <a:off x="8861425" y="5511800"/>
            <a:ext cx="269557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Luca Incerti</a:t>
            </a:r>
            <a:endParaRPr/>
          </a:p>
          <a:p>
            <a:pPr marL="0" marR="0" lvl="0" indent="0" algn="l" rtl="0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CDO · product design &amp; UX</a:t>
            </a:r>
            <a:endParaRPr/>
          </a:p>
        </p:txBody>
      </p:sp>
      <p:sp>
        <p:nvSpPr>
          <p:cNvPr id="616" name="Google Shape;616;p14"/>
          <p:cNvSpPr txBox="1"/>
          <p:nvPr/>
        </p:nvSpPr>
        <p:spPr>
          <a:xfrm>
            <a:off x="546100" y="5842000"/>
            <a:ext cx="269557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Roberto Ottolino</a:t>
            </a:r>
            <a:endParaRPr/>
          </a:p>
          <a:p>
            <a:pPr marL="0" marR="0" lvl="0" indent="0" algn="l" rtl="0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Foresight Expert · BD</a:t>
            </a:r>
            <a:endParaRPr/>
          </a:p>
        </p:txBody>
      </p:sp>
      <p:sp>
        <p:nvSpPr>
          <p:cNvPr id="617" name="Google Shape;617;p14"/>
          <p:cNvSpPr txBox="1"/>
          <p:nvPr/>
        </p:nvSpPr>
        <p:spPr>
          <a:xfrm>
            <a:off x="3317875" y="5842000"/>
            <a:ext cx="269557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Alessandro Alberti</a:t>
            </a:r>
            <a:endParaRPr/>
          </a:p>
          <a:p>
            <a:pPr marL="0" marR="0" lvl="0" indent="0" algn="l" rtl="0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Research · scientific validation</a:t>
            </a:r>
            <a:endParaRPr/>
          </a:p>
        </p:txBody>
      </p:sp>
      <p:sp>
        <p:nvSpPr>
          <p:cNvPr id="618" name="Google Shape;618;p14"/>
          <p:cNvSpPr txBox="1"/>
          <p:nvPr/>
        </p:nvSpPr>
        <p:spPr>
          <a:xfrm>
            <a:off x="6089650" y="5842000"/>
            <a:ext cx="269557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Stefano Mizzella</a:t>
            </a:r>
            <a:endParaRPr/>
          </a:p>
          <a:p>
            <a:pPr marL="0" marR="0" lvl="0" indent="0" algn="l" rtl="0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Sales Manager</a:t>
            </a:r>
            <a:endParaRPr/>
          </a:p>
        </p:txBody>
      </p:sp>
      <p:sp>
        <p:nvSpPr>
          <p:cNvPr id="619" name="Google Shape;619;p14"/>
          <p:cNvSpPr txBox="1"/>
          <p:nvPr/>
        </p:nvSpPr>
        <p:spPr>
          <a:xfrm>
            <a:off x="8861425" y="5842000"/>
            <a:ext cx="269557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8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Marco Vettorello</a:t>
            </a:r>
            <a:endParaRPr/>
          </a:p>
          <a:p>
            <a:pPr marL="0" marR="0" lvl="0" indent="0" algn="l" rtl="0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Senior Tech Advisor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24"/>
        </a:solidFill>
        <a:effectLst/>
      </p:bgPr>
    </p:bg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15" descr="Immagine che contiene Arte frattale, Policromia, violetto, luce&#10;&#10;Il contenuto generato dall'IA potrebbe non essere corret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15"/>
          <p:cNvSpPr/>
          <p:nvPr/>
        </p:nvSpPr>
        <p:spPr>
          <a:xfrm rot="1080000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1117">
                  <a:alpha val="85098"/>
                </a:srgbClr>
              </a:gs>
              <a:gs pos="50000">
                <a:srgbClr val="0D1117">
                  <a:alpha val="60000"/>
                </a:srgbClr>
              </a:gs>
              <a:gs pos="100000">
                <a:srgbClr val="0D1117">
                  <a:alpha val="10196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5"/>
          <p:cNvSpPr/>
          <p:nvPr/>
        </p:nvSpPr>
        <p:spPr>
          <a:xfrm>
            <a:off x="457200" y="2768600"/>
            <a:ext cx="11277600" cy="3632200"/>
          </a:xfrm>
          <a:prstGeom prst="rect">
            <a:avLst/>
          </a:prstGeom>
          <a:solidFill>
            <a:srgbClr val="0D1117">
              <a:alpha val="5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5"/>
          <p:cNvSpPr/>
          <p:nvPr/>
        </p:nvSpPr>
        <p:spPr>
          <a:xfrm>
            <a:off x="548640" y="9601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050"/>
              <a:buFont typeface="Inter Light"/>
              <a:buNone/>
            </a:pPr>
            <a:r>
              <a:rPr lang="en-US" sz="105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16   ·   THE ASK</a:t>
            </a:r>
            <a:endParaRPr sz="10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29" name="Google Shape;629;p15"/>
          <p:cNvSpPr/>
          <p:nvPr/>
        </p:nvSpPr>
        <p:spPr>
          <a:xfrm>
            <a:off x="548640" y="128016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€2M round with multiplier public leverage.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5"/>
          <p:cNvSpPr/>
          <p:nvPr/>
        </p:nvSpPr>
        <p:spPr>
          <a:xfrm>
            <a:off x="548640" y="2084832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600"/>
              <a:buFont typeface="Inter Light"/>
              <a:buNone/>
            </a:pPr>
            <a:r>
              <a:rPr lang="en-US" sz="16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Pre-money €5M · post-money €6.2M.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31" name="Google Shape;631;p15"/>
          <p:cNvSpPr/>
          <p:nvPr/>
        </p:nvSpPr>
        <p:spPr>
          <a:xfrm>
            <a:off x="548640" y="28803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050"/>
              <a:buFont typeface="Inter Light"/>
              <a:buNone/>
            </a:pPr>
            <a:r>
              <a:rPr lang="en-US" sz="105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ROUND STRUCTURE</a:t>
            </a:r>
            <a:endParaRPr sz="10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32" name="Google Shape;632;p15"/>
          <p:cNvSpPr/>
          <p:nvPr/>
        </p:nvSpPr>
        <p:spPr>
          <a:xfrm>
            <a:off x="548640" y="320040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33" name="Google Shape;633;p15"/>
          <p:cNvSpPr/>
          <p:nvPr/>
        </p:nvSpPr>
        <p:spPr>
          <a:xfrm>
            <a:off x="685800" y="32004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Private investors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34" name="Google Shape;634;p15"/>
          <p:cNvSpPr/>
          <p:nvPr/>
        </p:nvSpPr>
        <p:spPr>
          <a:xfrm>
            <a:off x="2971800" y="3200400"/>
            <a:ext cx="121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Inter Light"/>
              <a:buNone/>
            </a:pPr>
            <a:r>
              <a:rPr lang="en-US" sz="12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€500k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35" name="Google Shape;635;p15"/>
          <p:cNvSpPr/>
          <p:nvPr/>
        </p:nvSpPr>
        <p:spPr>
          <a:xfrm>
            <a:off x="4318000" y="3200400"/>
            <a:ext cx="1651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 i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Equity · 65% IRPEF tax relief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36" name="Google Shape;636;p15"/>
          <p:cNvSpPr/>
          <p:nvPr/>
        </p:nvSpPr>
        <p:spPr>
          <a:xfrm>
            <a:off x="548640" y="365760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37" name="Google Shape;637;p15"/>
          <p:cNvSpPr/>
          <p:nvPr/>
        </p:nvSpPr>
        <p:spPr>
          <a:xfrm>
            <a:off x="685800" y="36576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Qualified VC (VTL + CDP)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38" name="Google Shape;638;p15"/>
          <p:cNvSpPr/>
          <p:nvPr/>
        </p:nvSpPr>
        <p:spPr>
          <a:xfrm>
            <a:off x="2971800" y="3657600"/>
            <a:ext cx="121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Inter Light"/>
              <a:buNone/>
            </a:pPr>
            <a:r>
              <a:rPr lang="en-US" sz="12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€200k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39" name="Google Shape;639;p15"/>
          <p:cNvSpPr/>
          <p:nvPr/>
        </p:nvSpPr>
        <p:spPr>
          <a:xfrm>
            <a:off x="4318000" y="3657600"/>
            <a:ext cx="1651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 i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Equity · dual role (unlocks VTL + Rilancio)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40" name="Google Shape;640;p15"/>
          <p:cNvSpPr/>
          <p:nvPr/>
        </p:nvSpPr>
        <p:spPr>
          <a:xfrm>
            <a:off x="548640" y="411480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41" name="Google Shape;641;p15"/>
          <p:cNvSpPr/>
          <p:nvPr/>
        </p:nvSpPr>
        <p:spPr>
          <a:xfrm>
            <a:off x="685800" y="41148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Venture Tech Lazio (matching)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42" name="Google Shape;642;p15"/>
          <p:cNvSpPr/>
          <p:nvPr/>
        </p:nvSpPr>
        <p:spPr>
          <a:xfrm>
            <a:off x="2971800" y="4114800"/>
            <a:ext cx="121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Inter Light"/>
              <a:buNone/>
            </a:pPr>
            <a:r>
              <a:rPr lang="en-US" sz="12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€500k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43" name="Google Shape;643;p15"/>
          <p:cNvSpPr/>
          <p:nvPr/>
        </p:nvSpPr>
        <p:spPr>
          <a:xfrm>
            <a:off x="4318000" y="4114800"/>
            <a:ext cx="1651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 i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Pari passu equity · €500k/company cap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44" name="Google Shape;644;p15"/>
          <p:cNvSpPr/>
          <p:nvPr/>
        </p:nvSpPr>
        <p:spPr>
          <a:xfrm>
            <a:off x="548640" y="457200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45" name="Google Shape;645;p15"/>
          <p:cNvSpPr/>
          <p:nvPr/>
        </p:nvSpPr>
        <p:spPr>
          <a:xfrm>
            <a:off x="685800" y="45720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CDP Rilancio Fund (convertible)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46" name="Google Shape;646;p15"/>
          <p:cNvSpPr/>
          <p:nvPr/>
        </p:nvSpPr>
        <p:spPr>
          <a:xfrm>
            <a:off x="2971800" y="4572000"/>
            <a:ext cx="121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Inter Light"/>
              <a:buNone/>
            </a:pPr>
            <a:r>
              <a:rPr lang="en-US" sz="12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€800k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47" name="Google Shape;647;p15"/>
          <p:cNvSpPr/>
          <p:nvPr/>
        </p:nvSpPr>
        <p:spPr>
          <a:xfrm>
            <a:off x="4318000" y="4572000"/>
            <a:ext cx="1651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 i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5 years · 4:1 leverage · converts at discount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48" name="Google Shape;648;p15"/>
          <p:cNvSpPr/>
          <p:nvPr/>
        </p:nvSpPr>
        <p:spPr>
          <a:xfrm>
            <a:off x="548640" y="502920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49" name="Google Shape;649;p15"/>
          <p:cNvSpPr/>
          <p:nvPr/>
        </p:nvSpPr>
        <p:spPr>
          <a:xfrm>
            <a:off x="685800" y="50292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100"/>
              <a:buFont typeface="Inter Light"/>
              <a:buNone/>
            </a:pPr>
            <a:r>
              <a:rPr lang="en-US" sz="11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TOTAL ROUND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50" name="Google Shape;650;p15"/>
          <p:cNvSpPr/>
          <p:nvPr/>
        </p:nvSpPr>
        <p:spPr>
          <a:xfrm>
            <a:off x="2971800" y="5029200"/>
            <a:ext cx="121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200"/>
              <a:buFont typeface="Inter Light"/>
              <a:buNone/>
            </a:pPr>
            <a:r>
              <a:rPr lang="en-US" sz="12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€2.0M</a:t>
            </a:r>
            <a:endParaRPr sz="12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51" name="Google Shape;651;p15"/>
          <p:cNvSpPr/>
          <p:nvPr/>
        </p:nvSpPr>
        <p:spPr>
          <a:xfrm>
            <a:off x="4318000" y="5029200"/>
            <a:ext cx="1651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 i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+ ~€385k non-repayable Smart&amp;Start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52" name="Google Shape;652;p15"/>
          <p:cNvSpPr/>
          <p:nvPr/>
        </p:nvSpPr>
        <p:spPr>
          <a:xfrm>
            <a:off x="548640" y="566928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53" name="Google Shape;653;p15"/>
          <p:cNvSpPr/>
          <p:nvPr/>
        </p:nvSpPr>
        <p:spPr>
          <a:xfrm>
            <a:off x="685800" y="5715000"/>
            <a:ext cx="5207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100"/>
              <a:buFont typeface="Inter Light"/>
              <a:buNone/>
            </a:pPr>
            <a:r>
              <a:rPr lang="en-US" sz="11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€1.2M equity  →  </a:t>
            </a:r>
            <a:r>
              <a:rPr lang="en-US" sz="22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€2.5M</a:t>
            </a:r>
            <a:r>
              <a:rPr lang="en-US" sz="1100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  total resources for the product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000"/>
              <a:buFont typeface="Inter Light"/>
              <a:buNone/>
            </a:pPr>
            <a:r>
              <a:rPr lang="en-US" sz="1000" i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Runway ~24 months  ·  </a:t>
            </a:r>
            <a:r>
              <a:rPr lang="en-US" sz="1000" i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operating break-even Q4 2027</a:t>
            </a:r>
            <a:endParaRPr sz="11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54" name="Google Shape;654;p15"/>
          <p:cNvSpPr/>
          <p:nvPr/>
        </p:nvSpPr>
        <p:spPr>
          <a:xfrm>
            <a:off x="6263640" y="2880360"/>
            <a:ext cx="5376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050"/>
              <a:buFont typeface="Inter Light"/>
              <a:buNone/>
            </a:pPr>
            <a:r>
              <a:rPr lang="en-US" sz="1050" b="1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USE OF FUNDS  ·  €2M</a:t>
            </a:r>
            <a:endParaRPr sz="10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55" name="Google Shape;655;p15"/>
          <p:cNvSpPr/>
          <p:nvPr/>
        </p:nvSpPr>
        <p:spPr>
          <a:xfrm>
            <a:off x="6263640" y="3200400"/>
            <a:ext cx="5376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56" name="Google Shape;656;p15"/>
          <p:cNvSpPr/>
          <p:nvPr/>
        </p:nvSpPr>
        <p:spPr>
          <a:xfrm>
            <a:off x="6263640" y="3200400"/>
            <a:ext cx="2419502" cy="36576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57" name="Google Shape;657;p15"/>
          <p:cNvSpPr/>
          <p:nvPr/>
        </p:nvSpPr>
        <p:spPr>
          <a:xfrm>
            <a:off x="6400800" y="32918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600"/>
              <a:buFont typeface="Inter Light"/>
              <a:buNone/>
            </a:pPr>
            <a:r>
              <a:rPr lang="en-US" sz="16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45%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58" name="Google Shape;658;p15"/>
          <p:cNvSpPr/>
          <p:nvPr/>
        </p:nvSpPr>
        <p:spPr>
          <a:xfrm>
            <a:off x="6400800" y="354787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000"/>
              <a:buFont typeface="Inter Light"/>
              <a:buNone/>
            </a:pPr>
            <a:r>
              <a:rPr lang="en-US" sz="10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€900k</a:t>
            </a: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59" name="Google Shape;659;p15"/>
          <p:cNvSpPr/>
          <p:nvPr/>
        </p:nvSpPr>
        <p:spPr>
          <a:xfrm>
            <a:off x="7269480" y="329184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300"/>
              <a:buFont typeface="Inter Light"/>
              <a:buNone/>
            </a:pPr>
            <a:r>
              <a:rPr lang="en-US" sz="13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Product &amp; R&amp;D</a:t>
            </a:r>
            <a:endParaRPr sz="13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60" name="Google Shape;660;p15"/>
          <p:cNvSpPr/>
          <p:nvPr/>
        </p:nvSpPr>
        <p:spPr>
          <a:xfrm>
            <a:off x="7269480" y="354787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50"/>
              <a:buFont typeface="Inter Light"/>
              <a:buNone/>
            </a:pPr>
            <a:r>
              <a:rPr lang="en-US" sz="9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Time Machine UX · Marketplace API · GeoSentinel + StratoHealth verticals · predictive indices</a:t>
            </a:r>
            <a:endParaRPr sz="9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61" name="Google Shape;661;p15"/>
          <p:cNvSpPr/>
          <p:nvPr/>
        </p:nvSpPr>
        <p:spPr>
          <a:xfrm>
            <a:off x="6263640" y="3913632"/>
            <a:ext cx="5376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62" name="Google Shape;662;p15"/>
          <p:cNvSpPr/>
          <p:nvPr/>
        </p:nvSpPr>
        <p:spPr>
          <a:xfrm>
            <a:off x="6263640" y="3913632"/>
            <a:ext cx="1613002" cy="36576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63" name="Google Shape;663;p15"/>
          <p:cNvSpPr/>
          <p:nvPr/>
        </p:nvSpPr>
        <p:spPr>
          <a:xfrm>
            <a:off x="6400800" y="40050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600"/>
              <a:buFont typeface="Inter Light"/>
              <a:buNone/>
            </a:pPr>
            <a:r>
              <a:rPr lang="en-US" sz="16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30%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64" name="Google Shape;664;p15"/>
          <p:cNvSpPr/>
          <p:nvPr/>
        </p:nvSpPr>
        <p:spPr>
          <a:xfrm>
            <a:off x="6400800" y="4261104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000"/>
              <a:buFont typeface="Inter Light"/>
              <a:buNone/>
            </a:pPr>
            <a:r>
              <a:rPr lang="en-US" sz="10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€600k</a:t>
            </a: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65" name="Google Shape;665;p15"/>
          <p:cNvSpPr/>
          <p:nvPr/>
        </p:nvSpPr>
        <p:spPr>
          <a:xfrm>
            <a:off x="7269480" y="400507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300"/>
              <a:buFont typeface="Inter Light"/>
              <a:buNone/>
            </a:pPr>
            <a:r>
              <a:rPr lang="en-US" sz="13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Go-to-market</a:t>
            </a:r>
            <a:endParaRPr sz="13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66" name="Google Shape;666;p15"/>
          <p:cNvSpPr/>
          <p:nvPr/>
        </p:nvSpPr>
        <p:spPr>
          <a:xfrm>
            <a:off x="7269480" y="4261104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50"/>
              <a:buFont typeface="Inter Light"/>
              <a:buNone/>
            </a:pPr>
            <a:r>
              <a:rPr lang="en-US" sz="9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IT sales + international EU/MENA BD · events (EP Brussels, Turin) · brand</a:t>
            </a:r>
            <a:endParaRPr sz="9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67" name="Google Shape;667;p15"/>
          <p:cNvSpPr/>
          <p:nvPr/>
        </p:nvSpPr>
        <p:spPr>
          <a:xfrm>
            <a:off x="6263640" y="4626864"/>
            <a:ext cx="5376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68" name="Google Shape;668;p15"/>
          <p:cNvSpPr/>
          <p:nvPr/>
        </p:nvSpPr>
        <p:spPr>
          <a:xfrm>
            <a:off x="6263640" y="4626864"/>
            <a:ext cx="806501" cy="36576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69" name="Google Shape;669;p15"/>
          <p:cNvSpPr/>
          <p:nvPr/>
        </p:nvSpPr>
        <p:spPr>
          <a:xfrm>
            <a:off x="6400800" y="4718304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600"/>
              <a:buFont typeface="Inter Light"/>
              <a:buNone/>
            </a:pPr>
            <a:r>
              <a:rPr lang="en-US" sz="16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15%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70" name="Google Shape;670;p15"/>
          <p:cNvSpPr/>
          <p:nvPr/>
        </p:nvSpPr>
        <p:spPr>
          <a:xfrm>
            <a:off x="6400800" y="4974336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000"/>
              <a:buFont typeface="Inter Light"/>
              <a:buNone/>
            </a:pPr>
            <a:r>
              <a:rPr lang="en-US" sz="10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€300k</a:t>
            </a: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71" name="Google Shape;671;p15"/>
          <p:cNvSpPr/>
          <p:nvPr/>
        </p:nvSpPr>
        <p:spPr>
          <a:xfrm>
            <a:off x="7269480" y="4718304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300"/>
              <a:buFont typeface="Inter Light"/>
              <a:buNone/>
            </a:pPr>
            <a:r>
              <a:rPr lang="en-US" sz="13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Team · hiring</a:t>
            </a:r>
            <a:endParaRPr sz="13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72" name="Google Shape;672;p15"/>
          <p:cNvSpPr/>
          <p:nvPr/>
        </p:nvSpPr>
        <p:spPr>
          <a:xfrm>
            <a:off x="7269480" y="4974336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50"/>
              <a:buFont typeface="Inter Light"/>
              <a:buNone/>
            </a:pPr>
            <a:r>
              <a:rPr lang="en-US" sz="9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2 senior data scientists · 1 DevOps/SRE · 1 international BD</a:t>
            </a:r>
            <a:endParaRPr sz="9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73" name="Google Shape;673;p15"/>
          <p:cNvSpPr/>
          <p:nvPr/>
        </p:nvSpPr>
        <p:spPr>
          <a:xfrm>
            <a:off x="6263640" y="5340096"/>
            <a:ext cx="5376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74" name="Google Shape;674;p15"/>
          <p:cNvSpPr/>
          <p:nvPr/>
        </p:nvSpPr>
        <p:spPr>
          <a:xfrm>
            <a:off x="6263640" y="5340096"/>
            <a:ext cx="537667" cy="36576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75" name="Google Shape;675;p15"/>
          <p:cNvSpPr/>
          <p:nvPr/>
        </p:nvSpPr>
        <p:spPr>
          <a:xfrm>
            <a:off x="6400800" y="5431536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EE8D6"/>
              </a:buClr>
              <a:buSzPts val="1600"/>
              <a:buFont typeface="Inter Light"/>
              <a:buNone/>
            </a:pPr>
            <a:r>
              <a:rPr lang="en-US" sz="1600" b="1">
                <a:solidFill>
                  <a:srgbClr val="3EE8D6"/>
                </a:solidFill>
                <a:latin typeface="Inter Light"/>
                <a:ea typeface="Inter Light"/>
                <a:cs typeface="Inter Light"/>
                <a:sym typeface="Inter Light"/>
              </a:rPr>
              <a:t>10%</a:t>
            </a:r>
            <a:endParaRPr sz="16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76" name="Google Shape;676;p15"/>
          <p:cNvSpPr/>
          <p:nvPr/>
        </p:nvSpPr>
        <p:spPr>
          <a:xfrm>
            <a:off x="6400800" y="5687568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1000"/>
              <a:buFont typeface="Inter Light"/>
              <a:buNone/>
            </a:pPr>
            <a:r>
              <a:rPr lang="en-US" sz="10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€200k</a:t>
            </a: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77" name="Google Shape;677;p15"/>
          <p:cNvSpPr/>
          <p:nvPr/>
        </p:nvSpPr>
        <p:spPr>
          <a:xfrm>
            <a:off x="7269480" y="5431536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300"/>
              <a:buFont typeface="Inter Light"/>
              <a:buNone/>
            </a:pPr>
            <a:r>
              <a:rPr lang="en-US" sz="1300" b="1">
                <a:solidFill>
                  <a:srgbClr val="F0F4F8"/>
                </a:solidFill>
                <a:latin typeface="Inter Light"/>
                <a:ea typeface="Inter Light"/>
                <a:cs typeface="Inter Light"/>
                <a:sym typeface="Inter Light"/>
              </a:rPr>
              <a:t>Platform &amp; infrastructure</a:t>
            </a:r>
            <a:endParaRPr sz="13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78" name="Google Shape;678;p15"/>
          <p:cNvSpPr/>
          <p:nvPr/>
        </p:nvSpPr>
        <p:spPr>
          <a:xfrm>
            <a:off x="7269480" y="568756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50"/>
              <a:buFont typeface="Inter Light"/>
              <a:buNone/>
            </a:pPr>
            <a:r>
              <a:rPr lang="en-US" sz="95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Cloud scaling · LLM · GDPR / ISO 27001 · tooling</a:t>
            </a:r>
            <a:endParaRPr sz="95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79" name="Google Shape;679;p15"/>
          <p:cNvSpPr/>
          <p:nvPr/>
        </p:nvSpPr>
        <p:spPr>
          <a:xfrm>
            <a:off x="548640" y="6473952"/>
            <a:ext cx="11091672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80" name="Google Shape;680;p15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IZILab srl</a:t>
            </a:r>
            <a:r>
              <a:rPr lang="en-US" sz="900">
                <a:solidFill>
                  <a:srgbClr val="5F6C82"/>
                </a:solidFill>
                <a:latin typeface="Inter Light"/>
                <a:ea typeface="Inter Light"/>
                <a:cs typeface="Inter Light"/>
                <a:sym typeface="Inter Light"/>
              </a:rPr>
              <a:t>   ·   </a:t>
            </a: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Chorema  ·  Investor Deck  ·  April 2026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81" name="Google Shape;681;p15"/>
          <p:cNvSpPr/>
          <p:nvPr/>
        </p:nvSpPr>
        <p:spPr>
          <a:xfrm>
            <a:off x="10607040" y="6537960"/>
            <a:ext cx="10332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B9AA7"/>
              </a:buClr>
              <a:buSzPts val="900"/>
              <a:buFont typeface="Inter Light"/>
              <a:buNone/>
            </a:pPr>
            <a:r>
              <a:rPr lang="en-US" sz="900">
                <a:solidFill>
                  <a:srgbClr val="8B9AA7"/>
                </a:solidFill>
                <a:latin typeface="Inter Light"/>
                <a:ea typeface="Inter Light"/>
                <a:cs typeface="Inter Light"/>
                <a:sym typeface="Inter Light"/>
              </a:rPr>
              <a:t>18 / 18</a:t>
            </a:r>
            <a:endParaRPr sz="9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82" name="Google Shape;682;p15"/>
          <p:cNvSpPr/>
          <p:nvPr/>
        </p:nvSpPr>
        <p:spPr>
          <a:xfrm>
            <a:off x="546100" y="406400"/>
            <a:ext cx="927100" cy="292100"/>
          </a:xfrm>
          <a:custGeom>
            <a:avLst/>
            <a:gdLst/>
            <a:ahLst/>
            <a:cxnLst/>
            <a:rect l="l" t="t" r="r" b="b"/>
            <a:pathLst>
              <a:path w="1384665" h="446310" extrusionOk="0">
                <a:moveTo>
                  <a:pt x="0" y="0"/>
                </a:moveTo>
                <a:lnTo>
                  <a:pt x="1384665" y="0"/>
                </a:lnTo>
                <a:lnTo>
                  <a:pt x="1384665" y="446310"/>
                </a:lnTo>
                <a:lnTo>
                  <a:pt x="0" y="4463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5"/>
          <p:cNvSpPr/>
          <p:nvPr/>
        </p:nvSpPr>
        <p:spPr>
          <a:xfrm>
            <a:off x="546100" y="3200400"/>
            <a:ext cx="54864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5"/>
          <p:cNvSpPr/>
          <p:nvPr/>
        </p:nvSpPr>
        <p:spPr>
          <a:xfrm>
            <a:off x="546100" y="3657600"/>
            <a:ext cx="54864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5"/>
          <p:cNvSpPr/>
          <p:nvPr/>
        </p:nvSpPr>
        <p:spPr>
          <a:xfrm>
            <a:off x="546100" y="4114800"/>
            <a:ext cx="54864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5"/>
          <p:cNvSpPr/>
          <p:nvPr/>
        </p:nvSpPr>
        <p:spPr>
          <a:xfrm>
            <a:off x="546100" y="4572000"/>
            <a:ext cx="54864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5"/>
          <p:cNvSpPr/>
          <p:nvPr/>
        </p:nvSpPr>
        <p:spPr>
          <a:xfrm>
            <a:off x="546100" y="5029200"/>
            <a:ext cx="54864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5"/>
          <p:cNvSpPr/>
          <p:nvPr/>
        </p:nvSpPr>
        <p:spPr>
          <a:xfrm>
            <a:off x="546100" y="5664200"/>
            <a:ext cx="54864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5"/>
          <p:cNvSpPr/>
          <p:nvPr/>
        </p:nvSpPr>
        <p:spPr>
          <a:xfrm>
            <a:off x="546100" y="6400800"/>
            <a:ext cx="54864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5"/>
          <p:cNvSpPr/>
          <p:nvPr/>
        </p:nvSpPr>
        <p:spPr>
          <a:xfrm>
            <a:off x="546100" y="3200400"/>
            <a:ext cx="50800" cy="4064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5"/>
          <p:cNvSpPr/>
          <p:nvPr/>
        </p:nvSpPr>
        <p:spPr>
          <a:xfrm>
            <a:off x="546100" y="3657600"/>
            <a:ext cx="50800" cy="4064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5"/>
          <p:cNvSpPr/>
          <p:nvPr/>
        </p:nvSpPr>
        <p:spPr>
          <a:xfrm>
            <a:off x="546100" y="4114800"/>
            <a:ext cx="50800" cy="4064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5"/>
          <p:cNvSpPr/>
          <p:nvPr/>
        </p:nvSpPr>
        <p:spPr>
          <a:xfrm>
            <a:off x="546100" y="4572000"/>
            <a:ext cx="50800" cy="4064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5"/>
          <p:cNvSpPr/>
          <p:nvPr/>
        </p:nvSpPr>
        <p:spPr>
          <a:xfrm>
            <a:off x="546100" y="5029200"/>
            <a:ext cx="50800" cy="406400"/>
          </a:xfrm>
          <a:prstGeom prst="rect">
            <a:avLst/>
          </a:prstGeom>
          <a:solidFill>
            <a:srgbClr val="3EE8D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5"/>
          <p:cNvSpPr/>
          <p:nvPr/>
        </p:nvSpPr>
        <p:spPr>
          <a:xfrm>
            <a:off x="6261100" y="3200400"/>
            <a:ext cx="5372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5"/>
          <p:cNvSpPr/>
          <p:nvPr/>
        </p:nvSpPr>
        <p:spPr>
          <a:xfrm>
            <a:off x="6261100" y="3911600"/>
            <a:ext cx="5372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5"/>
          <p:cNvSpPr/>
          <p:nvPr/>
        </p:nvSpPr>
        <p:spPr>
          <a:xfrm>
            <a:off x="6261100" y="4622800"/>
            <a:ext cx="5372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5"/>
          <p:cNvSpPr/>
          <p:nvPr/>
        </p:nvSpPr>
        <p:spPr>
          <a:xfrm>
            <a:off x="6261100" y="5334000"/>
            <a:ext cx="5372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5"/>
          <p:cNvSpPr/>
          <p:nvPr/>
        </p:nvSpPr>
        <p:spPr>
          <a:xfrm>
            <a:off x="6261100" y="5969000"/>
            <a:ext cx="5372100" cy="635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6"/>
          <p:cNvSpPr/>
          <p:nvPr/>
        </p:nvSpPr>
        <p:spPr>
          <a:xfrm>
            <a:off x="0" y="-18288"/>
            <a:ext cx="12228576" cy="6876288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223" r="-13389" b="-2508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6" name="Google Shape;706;p16"/>
          <p:cNvCxnSpPr/>
          <p:nvPr/>
        </p:nvCxnSpPr>
        <p:spPr>
          <a:xfrm>
            <a:off x="1219200" y="1219200"/>
            <a:ext cx="2438400" cy="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7" name="Google Shape;707;p16"/>
          <p:cNvCxnSpPr/>
          <p:nvPr/>
        </p:nvCxnSpPr>
        <p:spPr>
          <a:xfrm>
            <a:off x="3657600" y="975360"/>
            <a:ext cx="2438400" cy="85344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8" name="Google Shape;708;p16"/>
          <p:cNvCxnSpPr/>
          <p:nvPr/>
        </p:nvCxnSpPr>
        <p:spPr>
          <a:xfrm>
            <a:off x="6096000" y="1828800"/>
            <a:ext cx="2438400" cy="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9" name="Google Shape;709;p16"/>
          <p:cNvCxnSpPr/>
          <p:nvPr/>
        </p:nvCxnSpPr>
        <p:spPr>
          <a:xfrm>
            <a:off x="8534400" y="731520"/>
            <a:ext cx="2438400" cy="73152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0" name="Google Shape;710;p16"/>
          <p:cNvCxnSpPr/>
          <p:nvPr/>
        </p:nvCxnSpPr>
        <p:spPr>
          <a:xfrm>
            <a:off x="1219200" y="1219200"/>
            <a:ext cx="0" cy="182880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1" name="Google Shape;711;p16"/>
          <p:cNvCxnSpPr/>
          <p:nvPr/>
        </p:nvCxnSpPr>
        <p:spPr>
          <a:xfrm>
            <a:off x="3657600" y="975360"/>
            <a:ext cx="0" cy="268224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2" name="Google Shape;712;p16"/>
          <p:cNvCxnSpPr/>
          <p:nvPr/>
        </p:nvCxnSpPr>
        <p:spPr>
          <a:xfrm>
            <a:off x="6096000" y="2593848"/>
            <a:ext cx="0" cy="85344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3" name="Google Shape;713;p16"/>
          <p:cNvCxnSpPr/>
          <p:nvPr/>
        </p:nvCxnSpPr>
        <p:spPr>
          <a:xfrm>
            <a:off x="8534400" y="731520"/>
            <a:ext cx="0" cy="316992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4" name="Google Shape;714;p16"/>
          <p:cNvCxnSpPr/>
          <p:nvPr/>
        </p:nvCxnSpPr>
        <p:spPr>
          <a:xfrm>
            <a:off x="10972800" y="1463040"/>
            <a:ext cx="0" cy="195072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5" name="Google Shape;715;p16"/>
          <p:cNvCxnSpPr/>
          <p:nvPr/>
        </p:nvCxnSpPr>
        <p:spPr>
          <a:xfrm>
            <a:off x="609600" y="3048000"/>
            <a:ext cx="2438400" cy="60960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6" name="Google Shape;716;p16"/>
          <p:cNvCxnSpPr/>
          <p:nvPr/>
        </p:nvCxnSpPr>
        <p:spPr>
          <a:xfrm>
            <a:off x="3048000" y="3657600"/>
            <a:ext cx="2438400" cy="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7" name="Google Shape;717;p16"/>
          <p:cNvCxnSpPr/>
          <p:nvPr/>
        </p:nvCxnSpPr>
        <p:spPr>
          <a:xfrm>
            <a:off x="5486400" y="2682240"/>
            <a:ext cx="2438400" cy="121920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8" name="Google Shape;718;p16"/>
          <p:cNvCxnSpPr/>
          <p:nvPr/>
        </p:nvCxnSpPr>
        <p:spPr>
          <a:xfrm>
            <a:off x="7924800" y="3901440"/>
            <a:ext cx="2438400" cy="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9" name="Google Shape;719;p16"/>
          <p:cNvCxnSpPr/>
          <p:nvPr/>
        </p:nvCxnSpPr>
        <p:spPr>
          <a:xfrm>
            <a:off x="609600" y="3048000"/>
            <a:ext cx="1219200" cy="182880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0" name="Google Shape;720;p16"/>
          <p:cNvCxnSpPr/>
          <p:nvPr/>
        </p:nvCxnSpPr>
        <p:spPr>
          <a:xfrm>
            <a:off x="3048000" y="3657600"/>
            <a:ext cx="1219200" cy="182880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1" name="Google Shape;721;p16"/>
          <p:cNvCxnSpPr/>
          <p:nvPr/>
        </p:nvCxnSpPr>
        <p:spPr>
          <a:xfrm>
            <a:off x="5486400" y="2682240"/>
            <a:ext cx="1219200" cy="195072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2" name="Google Shape;722;p16"/>
          <p:cNvCxnSpPr/>
          <p:nvPr/>
        </p:nvCxnSpPr>
        <p:spPr>
          <a:xfrm>
            <a:off x="7924800" y="3901440"/>
            <a:ext cx="1219200" cy="134112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3" name="Google Shape;723;p16"/>
          <p:cNvCxnSpPr/>
          <p:nvPr/>
        </p:nvCxnSpPr>
        <p:spPr>
          <a:xfrm>
            <a:off x="10363200" y="3413760"/>
            <a:ext cx="853440" cy="146304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4" name="Google Shape;724;p16"/>
          <p:cNvCxnSpPr/>
          <p:nvPr/>
        </p:nvCxnSpPr>
        <p:spPr>
          <a:xfrm>
            <a:off x="1828800" y="4876800"/>
            <a:ext cx="2438400" cy="60960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5" name="Google Shape;725;p16"/>
          <p:cNvCxnSpPr/>
          <p:nvPr/>
        </p:nvCxnSpPr>
        <p:spPr>
          <a:xfrm>
            <a:off x="4267200" y="5486400"/>
            <a:ext cx="2438400" cy="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6" name="Google Shape;726;p16"/>
          <p:cNvCxnSpPr/>
          <p:nvPr/>
        </p:nvCxnSpPr>
        <p:spPr>
          <a:xfrm>
            <a:off x="6705600" y="4632960"/>
            <a:ext cx="2438400" cy="60960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7" name="Google Shape;727;p16"/>
          <p:cNvCxnSpPr/>
          <p:nvPr/>
        </p:nvCxnSpPr>
        <p:spPr>
          <a:xfrm>
            <a:off x="9144000" y="5242560"/>
            <a:ext cx="2072640" cy="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8" name="Google Shape;728;p16"/>
          <p:cNvCxnSpPr/>
          <p:nvPr/>
        </p:nvCxnSpPr>
        <p:spPr>
          <a:xfrm>
            <a:off x="6096000" y="2593848"/>
            <a:ext cx="0" cy="182880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9" name="Google Shape;729;p16"/>
          <p:cNvCxnSpPr/>
          <p:nvPr/>
        </p:nvCxnSpPr>
        <p:spPr>
          <a:xfrm>
            <a:off x="5486400" y="2682240"/>
            <a:ext cx="3048000" cy="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0" name="Google Shape;730;p16"/>
          <p:cNvCxnSpPr/>
          <p:nvPr/>
        </p:nvCxnSpPr>
        <p:spPr>
          <a:xfrm>
            <a:off x="3048000" y="3657600"/>
            <a:ext cx="3657600" cy="975360"/>
          </a:xfrm>
          <a:prstGeom prst="straightConnector1">
            <a:avLst/>
          </a:prstGeom>
          <a:noFill/>
          <a:ln w="9525" cap="flat" cmpd="sng">
            <a:solidFill>
              <a:srgbClr val="00F0B5">
                <a:alpha val="705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1" name="Google Shape;731;p16"/>
          <p:cNvSpPr/>
          <p:nvPr/>
        </p:nvSpPr>
        <p:spPr>
          <a:xfrm>
            <a:off x="1182624" y="1182624"/>
            <a:ext cx="73152" cy="73152"/>
          </a:xfrm>
          <a:prstGeom prst="ellipse">
            <a:avLst/>
          </a:prstGeom>
          <a:solidFill>
            <a:srgbClr val="00F0B5">
              <a:alpha val="1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6"/>
          <p:cNvSpPr/>
          <p:nvPr/>
        </p:nvSpPr>
        <p:spPr>
          <a:xfrm>
            <a:off x="3621024" y="938784"/>
            <a:ext cx="73152" cy="73152"/>
          </a:xfrm>
          <a:prstGeom prst="ellipse">
            <a:avLst/>
          </a:prstGeom>
          <a:solidFill>
            <a:srgbClr val="00F0B5">
              <a:alpha val="1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6"/>
          <p:cNvSpPr/>
          <p:nvPr/>
        </p:nvSpPr>
        <p:spPr>
          <a:xfrm>
            <a:off x="6059424" y="2557272"/>
            <a:ext cx="73152" cy="73152"/>
          </a:xfrm>
          <a:prstGeom prst="ellipse">
            <a:avLst/>
          </a:prstGeom>
          <a:solidFill>
            <a:srgbClr val="00F0B5">
              <a:alpha val="1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6"/>
          <p:cNvSpPr/>
          <p:nvPr/>
        </p:nvSpPr>
        <p:spPr>
          <a:xfrm>
            <a:off x="8497824" y="694944"/>
            <a:ext cx="73152" cy="73152"/>
          </a:xfrm>
          <a:prstGeom prst="ellipse">
            <a:avLst/>
          </a:prstGeom>
          <a:solidFill>
            <a:srgbClr val="00F0B5">
              <a:alpha val="1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6"/>
          <p:cNvSpPr/>
          <p:nvPr/>
        </p:nvSpPr>
        <p:spPr>
          <a:xfrm>
            <a:off x="10936224" y="1426464"/>
            <a:ext cx="73152" cy="73152"/>
          </a:xfrm>
          <a:prstGeom prst="ellipse">
            <a:avLst/>
          </a:prstGeom>
          <a:solidFill>
            <a:srgbClr val="00F0B5">
              <a:alpha val="1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6"/>
          <p:cNvSpPr/>
          <p:nvPr/>
        </p:nvSpPr>
        <p:spPr>
          <a:xfrm>
            <a:off x="573024" y="3011424"/>
            <a:ext cx="73152" cy="73152"/>
          </a:xfrm>
          <a:prstGeom prst="ellipse">
            <a:avLst/>
          </a:prstGeom>
          <a:solidFill>
            <a:srgbClr val="00F0B5">
              <a:alpha val="1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6"/>
          <p:cNvSpPr/>
          <p:nvPr/>
        </p:nvSpPr>
        <p:spPr>
          <a:xfrm>
            <a:off x="3011424" y="3621024"/>
            <a:ext cx="73152" cy="73152"/>
          </a:xfrm>
          <a:prstGeom prst="ellipse">
            <a:avLst/>
          </a:prstGeom>
          <a:solidFill>
            <a:srgbClr val="00F0B5">
              <a:alpha val="1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6"/>
          <p:cNvSpPr/>
          <p:nvPr/>
        </p:nvSpPr>
        <p:spPr>
          <a:xfrm>
            <a:off x="5449824" y="3410712"/>
            <a:ext cx="73152" cy="73152"/>
          </a:xfrm>
          <a:prstGeom prst="ellipse">
            <a:avLst/>
          </a:prstGeom>
          <a:solidFill>
            <a:srgbClr val="00F0B5">
              <a:alpha val="1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6"/>
          <p:cNvSpPr/>
          <p:nvPr/>
        </p:nvSpPr>
        <p:spPr>
          <a:xfrm>
            <a:off x="7888224" y="3864864"/>
            <a:ext cx="73152" cy="73152"/>
          </a:xfrm>
          <a:prstGeom prst="ellipse">
            <a:avLst/>
          </a:prstGeom>
          <a:solidFill>
            <a:srgbClr val="00F0B5">
              <a:alpha val="1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6"/>
          <p:cNvSpPr/>
          <p:nvPr/>
        </p:nvSpPr>
        <p:spPr>
          <a:xfrm>
            <a:off x="10326624" y="3377184"/>
            <a:ext cx="73152" cy="73152"/>
          </a:xfrm>
          <a:prstGeom prst="ellipse">
            <a:avLst/>
          </a:prstGeom>
          <a:solidFill>
            <a:srgbClr val="00F0B5">
              <a:alpha val="1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6"/>
          <p:cNvSpPr/>
          <p:nvPr/>
        </p:nvSpPr>
        <p:spPr>
          <a:xfrm>
            <a:off x="1792224" y="4840224"/>
            <a:ext cx="73152" cy="73152"/>
          </a:xfrm>
          <a:prstGeom prst="ellipse">
            <a:avLst/>
          </a:prstGeom>
          <a:solidFill>
            <a:srgbClr val="00F0B5">
              <a:alpha val="1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6"/>
          <p:cNvSpPr/>
          <p:nvPr/>
        </p:nvSpPr>
        <p:spPr>
          <a:xfrm>
            <a:off x="4230624" y="5449824"/>
            <a:ext cx="73152" cy="73152"/>
          </a:xfrm>
          <a:prstGeom prst="ellipse">
            <a:avLst/>
          </a:prstGeom>
          <a:solidFill>
            <a:srgbClr val="00F0B5">
              <a:alpha val="1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6"/>
          <p:cNvSpPr/>
          <p:nvPr/>
        </p:nvSpPr>
        <p:spPr>
          <a:xfrm>
            <a:off x="6669024" y="4596384"/>
            <a:ext cx="73152" cy="73152"/>
          </a:xfrm>
          <a:prstGeom prst="ellipse">
            <a:avLst/>
          </a:prstGeom>
          <a:solidFill>
            <a:srgbClr val="00F0B5">
              <a:alpha val="1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6"/>
          <p:cNvSpPr/>
          <p:nvPr/>
        </p:nvSpPr>
        <p:spPr>
          <a:xfrm>
            <a:off x="9107424" y="5205984"/>
            <a:ext cx="73152" cy="73152"/>
          </a:xfrm>
          <a:prstGeom prst="ellipse">
            <a:avLst/>
          </a:prstGeom>
          <a:solidFill>
            <a:srgbClr val="00F0B5">
              <a:alpha val="1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6"/>
          <p:cNvSpPr/>
          <p:nvPr/>
        </p:nvSpPr>
        <p:spPr>
          <a:xfrm>
            <a:off x="11180064" y="4840224"/>
            <a:ext cx="73152" cy="73152"/>
          </a:xfrm>
          <a:prstGeom prst="ellipse">
            <a:avLst/>
          </a:prstGeom>
          <a:solidFill>
            <a:srgbClr val="00F0B5">
              <a:alpha val="1215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6"/>
          <p:cNvSpPr/>
          <p:nvPr/>
        </p:nvSpPr>
        <p:spPr>
          <a:xfrm>
            <a:off x="3584448" y="3226709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endParaRPr sz="2400">
              <a:solidFill>
                <a:srgbClr val="49E1C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7" name="Google Shape;747;p16"/>
          <p:cNvSpPr/>
          <p:nvPr/>
        </p:nvSpPr>
        <p:spPr>
          <a:xfrm>
            <a:off x="4194048" y="58826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www.izilab.it</a:t>
            </a:r>
            <a:endParaRPr sz="1333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48" name="Google Shape;748;p16"/>
          <p:cNvSpPr/>
          <p:nvPr/>
        </p:nvSpPr>
        <p:spPr>
          <a:xfrm>
            <a:off x="5170299" y="5216951"/>
            <a:ext cx="1811951" cy="584035"/>
          </a:xfrm>
          <a:custGeom>
            <a:avLst/>
            <a:gdLst/>
            <a:ahLst/>
            <a:cxnLst/>
            <a:rect l="l" t="t" r="r" b="b"/>
            <a:pathLst>
              <a:path w="1384665" h="446310" extrusionOk="0">
                <a:moveTo>
                  <a:pt x="0" y="0"/>
                </a:moveTo>
                <a:lnTo>
                  <a:pt x="1384665" y="0"/>
                </a:lnTo>
                <a:lnTo>
                  <a:pt x="1384665" y="446310"/>
                </a:lnTo>
                <a:lnTo>
                  <a:pt x="0" y="4463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15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3091</Words>
  <Application>Microsoft Macintosh PowerPoint</Application>
  <PresentationFormat>Widescreen</PresentationFormat>
  <Paragraphs>415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Helvetica Neue</vt:lpstr>
      <vt:lpstr>Calibri</vt:lpstr>
      <vt:lpstr>Helvetica Neue Light</vt:lpstr>
      <vt:lpstr>Arial</vt:lpstr>
      <vt:lpstr>Inter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IZILab srl</dc:creator>
  <cp:lastModifiedBy>Martino Bellincampi</cp:lastModifiedBy>
  <cp:revision>1</cp:revision>
  <dcterms:created xsi:type="dcterms:W3CDTF">2026-04-18T08:23:12Z</dcterms:created>
  <dcterms:modified xsi:type="dcterms:W3CDTF">2026-06-17T14:21:23Z</dcterms:modified>
</cp:coreProperties>
</file>